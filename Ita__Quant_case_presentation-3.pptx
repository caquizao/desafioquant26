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7" r:id="rId2"/>
    <p:sldId id="257" r:id="rId3"/>
    <p:sldId id="266" r:id="rId4"/>
    <p:sldId id="256" r:id="rId5"/>
    <p:sldId id="258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B3D"/>
    <a:srgbClr val="818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24" d="100"/>
          <a:sy n="24" d="100"/>
        </p:scale>
        <p:origin x="3024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99BFA02-D09F-EE67-BA5D-A5783360EB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61D187-959D-F0D2-BF27-70E27AFF87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E407A-C1B1-4C4A-A1AF-5A959DADDE1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1BAA98-83F4-52BE-E6AC-DA4B553700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F9F10D-2459-85CA-94CD-E9566D3E72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30E1F-04B9-4EE8-A233-45311682ED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62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15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9251-C97F-3BFD-9839-8F117EC7B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A133B-F9AB-1920-89BD-DBB47833A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B24AA-C40C-F903-7659-F4007A548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Tese + Identidade do Robô. Cobre Conceito da Estratégia (20%) e Apresentação do Robô (5%).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C3285-EF12-E4B6-DB3C-FADB194EE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54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Modelagem parte 1: entradas, grafo, choque limpo e propagação. Regra de frontier: cada bloco lê só a saída do bloco anterior. Fecha em 'sistemático e replicável' e engancha o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C073-19EF-F470-77B2-7AD4E3F0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E0A70-3432-9D0F-E6F1-850044E4A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1D0E6-D1F3-EA4B-7DF1-DBD75E766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Modelagem parte 1: entradas, grafo, choque limpo e propagação. Regra de frontier: cada bloco lê só a saída do bloco anterior. Fecha em 'sistemático e replicável' e engancha o slide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1100E-6E2A-5250-A5F8-96FAD8AB4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8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curva: o alfa não segue o Ibovespa — correlação −0,01. Depois o comportamento por regime. Fechar na leitura crítica: Sharpe 0,36 é modesto e o gargalo é breadth (58 elos), não a qualidade do sinal.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momentos: a IA construiu, revelou o teto e vai rompê-lo. Momento 1 — a prova concreta é o +11,6% → +27,9% depois dos 4 bugs revelados ao questionar a IA. Momento 2 — IR ≈ IC × √breadth: o IC é bom, o gargalo são os 58 elos; o teto não é do modelo, é do tamanho do grafo. Momento 3 — a mesma IA expande o grafo; deixar claro que a projeção 58→100→200 é estimativa, não backtest. Fechar na faixa: as limitações são execução, não pesquisa.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94A8A186-1ECF-2891-EFDE-E81A3346D01F}"/>
              </a:ext>
            </a:extLst>
          </p:cNvPr>
          <p:cNvSpPr/>
          <p:nvPr userDrawn="1"/>
        </p:nvSpPr>
        <p:spPr>
          <a:xfrm>
            <a:off x="610106" y="403801"/>
            <a:ext cx="13554164" cy="864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4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6B99-1984-40A3-44E4-16F067AB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6A56416E-5002-BC5E-C226-13633DBE990E}"/>
              </a:ext>
            </a:extLst>
          </p:cNvPr>
          <p:cNvSpPr/>
          <p:nvPr/>
        </p:nvSpPr>
        <p:spPr>
          <a:xfrm>
            <a:off x="609600" y="1019175"/>
            <a:ext cx="16322040" cy="1359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250"/>
              </a:lnSpc>
              <a:buNone/>
            </a:pPr>
            <a:r>
              <a:rPr lang="en-US" sz="5100" b="1" kern="0" spc="-102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SINAPSE: </a:t>
            </a:r>
            <a:r>
              <a:rPr lang="en-US" sz="5100" b="1" kern="0" spc="-102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operando o atraso da atenção do mercado</a:t>
            </a:r>
            <a:endParaRPr lang="en-US" sz="51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19E7BD-F44F-0087-5FFB-8FC5090B2C97}"/>
              </a:ext>
            </a:extLst>
          </p:cNvPr>
          <p:cNvSpPr/>
          <p:nvPr/>
        </p:nvSpPr>
        <p:spPr>
          <a:xfrm>
            <a:off x="628650" y="2001610"/>
            <a:ext cx="1706880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BBE707-4255-8AFF-DE5F-055DEE181CDE}"/>
              </a:ext>
            </a:extLst>
          </p:cNvPr>
          <p:cNvSpPr/>
          <p:nvPr/>
        </p:nvSpPr>
        <p:spPr>
          <a:xfrm>
            <a:off x="535444" y="2429034"/>
            <a:ext cx="697801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b="1" kern="0" spc="33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</a:t>
            </a:r>
            <a:endParaRPr lang="en-US" sz="1650" dirty="0">
              <a:solidFill>
                <a:schemeClr val="accent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77B2DB-8325-D4B4-B705-74DFDCD4610C}"/>
              </a:ext>
            </a:extLst>
          </p:cNvPr>
          <p:cNvSpPr/>
          <p:nvPr/>
        </p:nvSpPr>
        <p:spPr>
          <a:xfrm>
            <a:off x="517620" y="2945606"/>
            <a:ext cx="6408919" cy="2524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8915"/>
              </a:lnSpc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No mercado,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existe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relação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dependência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concorrência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entre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empresas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. Quando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empresa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X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tem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alta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ou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baixa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, as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empresas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ligadas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ela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demoram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reprecicar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, logo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abre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-se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Janela de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investimento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Acontece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pois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atenção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do mercado é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escassa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quem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cobre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empresa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líder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não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cobre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satélite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na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mesma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velocidade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6BB1F51-ABD6-9F3A-C536-7E95D0E4A6FD}"/>
              </a:ext>
            </a:extLst>
          </p:cNvPr>
          <p:cNvSpPr/>
          <p:nvPr/>
        </p:nvSpPr>
        <p:spPr>
          <a:xfrm>
            <a:off x="535444" y="5583971"/>
            <a:ext cx="634365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92B666-1D25-44C4-4025-EDFD621C1648}"/>
              </a:ext>
            </a:extLst>
          </p:cNvPr>
          <p:cNvSpPr/>
          <p:nvPr/>
        </p:nvSpPr>
        <p:spPr>
          <a:xfrm>
            <a:off x="468133" y="5718055"/>
            <a:ext cx="3266937" cy="12650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→ pequena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776C3F-26C9-10E9-83B2-720F7C4CF572}"/>
              </a:ext>
            </a:extLst>
          </p:cNvPr>
          <p:cNvSpPr/>
          <p:nvPr/>
        </p:nvSpPr>
        <p:spPr>
          <a:xfrm>
            <a:off x="3965714" y="5868093"/>
            <a:ext cx="3266937" cy="1386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nesse sentido. Nos dois, seria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sectorial,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falta de atenção.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70FC70-859B-9E2D-41A5-64D6DB4BAF2D}"/>
              </a:ext>
            </a:extLst>
          </p:cNvPr>
          <p:cNvSpPr/>
          <p:nvPr/>
        </p:nvSpPr>
        <p:spPr>
          <a:xfrm>
            <a:off x="7345681" y="2020660"/>
            <a:ext cx="45719" cy="53174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B34BBA-F630-78C7-8857-4028304D3DC0}"/>
              </a:ext>
            </a:extLst>
          </p:cNvPr>
          <p:cNvSpPr/>
          <p:nvPr/>
        </p:nvSpPr>
        <p:spPr>
          <a:xfrm>
            <a:off x="7736344" y="2429034"/>
            <a:ext cx="64960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b="1" kern="0" spc="33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ESTRATÉGIA</a:t>
            </a:r>
            <a:endParaRPr lang="en-US" sz="1650" dirty="0">
              <a:solidFill>
                <a:schemeClr val="accent2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788EA3-FAE3-02A5-3133-ACD07FD2DE98}"/>
              </a:ext>
            </a:extLst>
          </p:cNvPr>
          <p:cNvSpPr/>
          <p:nvPr/>
        </p:nvSpPr>
        <p:spPr>
          <a:xfrm>
            <a:off x="7712533" y="2955285"/>
            <a:ext cx="6496050" cy="195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15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</a:t>
            </a:r>
            <a:r>
              <a:rPr lang="en-US" sz="2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200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âncora</a:t>
            </a:r>
            <a:r>
              <a:rPr lang="en-US" sz="2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varia, um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(+/-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dependendo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passar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diversos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transformado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</a:t>
            </a:r>
            <a:r>
              <a:rPr lang="en-US" sz="2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200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</a:t>
            </a:r>
            <a:r>
              <a:rPr lang="en-US" sz="2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C75CBC0-822A-2CF1-7836-2C354B48A62B}"/>
              </a:ext>
            </a:extLst>
          </p:cNvPr>
          <p:cNvSpPr/>
          <p:nvPr/>
        </p:nvSpPr>
        <p:spPr>
          <a:xfrm>
            <a:off x="7712533" y="4697190"/>
            <a:ext cx="453232" cy="441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769"/>
              </a:lnSpc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62DE70-0187-ED9B-9DE8-DA82D457A6FB}"/>
              </a:ext>
            </a:extLst>
          </p:cNvPr>
          <p:cNvSpPr/>
          <p:nvPr/>
        </p:nvSpPr>
        <p:spPr>
          <a:xfrm>
            <a:off x="8216469" y="4699325"/>
            <a:ext cx="5183199" cy="262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769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recalculado </a:t>
            </a: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pregão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mensal.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7829D6-D7B1-0C72-FC2B-43AB4E164497}"/>
              </a:ext>
            </a:extLst>
          </p:cNvPr>
          <p:cNvSpPr/>
          <p:nvPr/>
        </p:nvSpPr>
        <p:spPr>
          <a:xfrm>
            <a:off x="7711642" y="5405543"/>
            <a:ext cx="453232" cy="616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769"/>
              </a:lnSpc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1B47D57-FB92-6752-2F00-1CA5228CE3A3}"/>
              </a:ext>
            </a:extLst>
          </p:cNvPr>
          <p:cNvSpPr/>
          <p:nvPr/>
        </p:nvSpPr>
        <p:spPr>
          <a:xfrm>
            <a:off x="8246556" y="5385055"/>
            <a:ext cx="5321618" cy="861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69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Long-short: compra sinal positivo forte,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272FE9-CDB6-3987-A303-E66D35D2044F}"/>
              </a:ext>
            </a:extLst>
          </p:cNvPr>
          <p:cNvSpPr/>
          <p:nvPr/>
        </p:nvSpPr>
        <p:spPr>
          <a:xfrm flipH="1">
            <a:off x="14184771" y="2001610"/>
            <a:ext cx="45719" cy="53174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D29016B8-BF9B-ECD9-0317-02F89B9402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224" r="-20224"/>
          <a:stretch/>
        </p:blipFill>
        <p:spPr>
          <a:xfrm>
            <a:off x="14831448" y="2222913"/>
            <a:ext cx="2831752" cy="4898752"/>
          </a:xfrm>
          <a:prstGeom prst="rect">
            <a:avLst/>
          </a:prstGeom>
        </p:spPr>
      </p:pic>
      <p:sp>
        <p:nvSpPr>
          <p:cNvPr id="32" name="Shape 29">
            <a:extLst>
              <a:ext uri="{FF2B5EF4-FFF2-40B4-BE49-F238E27FC236}">
                <a16:creationId xmlns:a16="http://schemas.microsoft.com/office/drawing/2014/main" id="{0688B782-4FC0-8859-2C17-893C9354CEBB}"/>
              </a:ext>
            </a:extLst>
          </p:cNvPr>
          <p:cNvSpPr/>
          <p:nvPr/>
        </p:nvSpPr>
        <p:spPr>
          <a:xfrm>
            <a:off x="440246" y="7345938"/>
            <a:ext cx="170688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69D091C-A061-1FF6-D68A-E7D3165CC3C2}"/>
              </a:ext>
            </a:extLst>
          </p:cNvPr>
          <p:cNvSpPr/>
          <p:nvPr/>
        </p:nvSpPr>
        <p:spPr>
          <a:xfrm>
            <a:off x="421196" y="7612638"/>
            <a:ext cx="8968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b="1" kern="0" spc="33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</a:t>
            </a:r>
            <a:endParaRPr lang="en-US" sz="1650" dirty="0">
              <a:solidFill>
                <a:schemeClr val="accent2"/>
              </a:solidFill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C7251D6-6800-F7A1-4696-3E16068288E9}"/>
              </a:ext>
            </a:extLst>
          </p:cNvPr>
          <p:cNvSpPr/>
          <p:nvPr/>
        </p:nvSpPr>
        <p:spPr>
          <a:xfrm>
            <a:off x="440246" y="8356998"/>
            <a:ext cx="7821949" cy="110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 &amp; Frazzini (2008): 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ligadas repreciam com atraso por atenção limitada. Onde não há base pronta de elos,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nósextraímos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CVM com IA.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5ABC6FD1-0154-7F75-25D6-38788D4ED35B}"/>
              </a:ext>
            </a:extLst>
          </p:cNvPr>
          <p:cNvSpPr/>
          <p:nvPr/>
        </p:nvSpPr>
        <p:spPr>
          <a:xfrm>
            <a:off x="8406955" y="7612637"/>
            <a:ext cx="50731" cy="2052687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91A86DB-42DF-4C3B-2246-B7B2918205CE}"/>
              </a:ext>
            </a:extLst>
          </p:cNvPr>
          <p:cNvSpPr/>
          <p:nvPr/>
        </p:nvSpPr>
        <p:spPr>
          <a:xfrm>
            <a:off x="8786242" y="7660521"/>
            <a:ext cx="917320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b="1" kern="0" spc="33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SINAPSE?</a:t>
            </a:r>
            <a:endParaRPr lang="en-US" sz="1650" dirty="0">
              <a:solidFill>
                <a:schemeClr val="accent2"/>
              </a:solidFill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AD0ABD91-04C0-9ABD-256D-7F1417D42D59}"/>
              </a:ext>
            </a:extLst>
          </p:cNvPr>
          <p:cNvSpPr/>
          <p:nvPr/>
        </p:nvSpPr>
        <p:spPr>
          <a:xfrm>
            <a:off x="8745137" y="8361105"/>
            <a:ext cx="9026417" cy="1811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cérebro pensa pelas conexões, não pelos neurônios isolados. Numa sinapse, o impulso só cruza se vence um limiar, e leva um instante para chegar. A SINAPSE opera exatamente aí: no mapa de quem dispara quem, e no atraso entre o choque na âncora e o mercado </a:t>
            </a:r>
            <a:r>
              <a:rPr lang="pt-BR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reprecicar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satélite.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55434A-450B-1EE9-B8B2-8BC9C94AB905}"/>
              </a:ext>
            </a:extLst>
          </p:cNvPr>
          <p:cNvSpPr txBox="1"/>
          <p:nvPr/>
        </p:nvSpPr>
        <p:spPr>
          <a:xfrm>
            <a:off x="7643725" y="6237290"/>
            <a:ext cx="52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78B9C52B-3EC0-7D95-401B-CFE3316BB0C7}"/>
              </a:ext>
            </a:extLst>
          </p:cNvPr>
          <p:cNvSpPr/>
          <p:nvPr/>
        </p:nvSpPr>
        <p:spPr>
          <a:xfrm>
            <a:off x="8226137" y="6217823"/>
            <a:ext cx="5551748" cy="793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769"/>
              </a:lnSpc>
              <a:buNone/>
            </a:pPr>
            <a:r>
              <a:rPr lang="pt-BR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O universo usado são as 100 ações mais liquidadas da B3 entre 2016 e 2025</a:t>
            </a:r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041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599269"/>
            <a:ext cx="17068800" cy="118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22"/>
              </a:lnSpc>
              <a:buNone/>
            </a:pPr>
            <a:r>
              <a:rPr lang="en-US" sz="4000" b="1" kern="0" spc="-84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400002"/>
            <a:ext cx="1706880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4349" y="3183478"/>
            <a:ext cx="170688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4349" y="1663790"/>
            <a:ext cx="1028700" cy="1575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-48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6849" y="1653647"/>
            <a:ext cx="5004956" cy="428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DO MODELO: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20190" y="2112085"/>
            <a:ext cx="45719" cy="955381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76399" y="2138750"/>
            <a:ext cx="5114417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0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 diários ajustados do </a:t>
            </a:r>
            <a:r>
              <a:rPr lang="en-US" sz="20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universo</a:t>
            </a:r>
            <a:r>
              <a:rPr lang="en-US" sz="20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(253 </a:t>
            </a:r>
            <a:r>
              <a:rPr lang="en-US" sz="2000" dirty="0" err="1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r>
              <a:rPr lang="en-US" sz="20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</a:t>
            </a:r>
            <a:r>
              <a:rPr lang="en-US" sz="20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liquidados</a:t>
            </a:r>
            <a:r>
              <a:rPr lang="en-US" sz="20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B3)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50099" y="2138749"/>
            <a:ext cx="5245100" cy="707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0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elos econômicos </a:t>
            </a:r>
            <a:r>
              <a:rPr lang="en-US" sz="20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(extraído da CVM)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721388" y="2138750"/>
            <a:ext cx="5114417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0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setorial dos ativos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4349" y="4794145"/>
            <a:ext cx="170688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4349" y="3484752"/>
            <a:ext cx="10287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-48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3505" y="3485220"/>
            <a:ext cx="4191000" cy="429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ECONÔMICO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276849" y="3474933"/>
            <a:ext cx="19050" cy="1074241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76899" y="3474933"/>
            <a:ext cx="130968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elos ligando 74 empresas</a:t>
            </a: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extraídos de documentos da CVM (Formulário de Referência, Fatos Relevantes).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91187" y="3852063"/>
            <a:ext cx="130968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elo carrega: âncora → </a:t>
            </a:r>
            <a:r>
              <a:rPr lang="en-US" sz="18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</a:t>
            </a: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tipo (cliente, holding, </a:t>
            </a:r>
            <a:r>
              <a:rPr lang="en-US" sz="18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</a:t>
            </a: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…) | </a:t>
            </a:r>
            <a:r>
              <a:rPr lang="en-US" sz="18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</a:t>
            </a: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18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</a:t>
            </a: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(0 a 1) | </a:t>
            </a:r>
            <a:r>
              <a:rPr lang="en-US" sz="18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</a:t>
            </a: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 ou −1).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76899" y="4229194"/>
            <a:ext cx="130968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</a:t>
            </a:r>
            <a:r>
              <a:rPr lang="en-US" sz="1800" dirty="0">
                <a:solidFill>
                  <a:srgbClr val="FFB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VALE3 → USIM5 </a:t>
            </a:r>
            <a:r>
              <a:rPr lang="en-US" sz="18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(cliente · força 0,7 · direção +1).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7690" y="6559046"/>
            <a:ext cx="170688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4349" y="5139242"/>
            <a:ext cx="10287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-48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321117" y="5119828"/>
            <a:ext cx="4120514" cy="510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CHOQUE LIMPO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276849" y="5063822"/>
            <a:ext cx="19050" cy="1062831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76898" y="4952300"/>
            <a:ext cx="1309687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móvel de 252 pregões: </a:t>
            </a:r>
            <a:r>
              <a:rPr lang="en-US" sz="1950" dirty="0">
                <a:solidFill>
                  <a:srgbClr val="002060"/>
                </a:solidFill>
                <a:highlight>
                  <a:srgbClr val="FFEFE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 = α + β₁·Ibovespa + β₂·Setor + ε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84011" y="5378791"/>
            <a:ext cx="12263438" cy="10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resíduo </a:t>
            </a:r>
            <a:r>
              <a:rPr lang="en-US" dirty="0">
                <a:solidFill>
                  <a:srgbClr val="FFB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movimento exclusivo da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âncora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mercado e setor. É esse "choque limpo" que interessa, não o retorno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que o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propagado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própria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âncora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3879" y="6884399"/>
            <a:ext cx="10287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-48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73505" y="6910482"/>
            <a:ext cx="4156709" cy="56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PROPAGAÇÃO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5229751" y="6884399"/>
            <a:ext cx="19050" cy="1062831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30240" y="6844598"/>
            <a:ext cx="6998494" cy="330200"/>
          </a:xfrm>
          <a:prstGeom prst="rect">
            <a:avLst/>
          </a:prstGeom>
          <a:solidFill>
            <a:srgbClr val="FF7A2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25490" y="6896620"/>
            <a:ext cx="750784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4091"/>
              </a:lnSpc>
              <a:buNone/>
            </a:pPr>
            <a:r>
              <a:rPr lang="en-US" sz="1950" dirty="0">
                <a:solidFill>
                  <a:srgbClr val="FFB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Sinal(B) = Σ [ Choque_Limpo(A) × Força × Direção ]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5730240" y="7261118"/>
            <a:ext cx="1226343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Somado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sobre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todas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as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âncoras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que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apontam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para a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satélite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B (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ela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pode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receber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várias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).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Portanto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é a (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variação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da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empresa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A) x (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força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da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relação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entre A e B) x (+1/-1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dependendo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da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espécie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relação</a:t>
            </a: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entre as duas)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EAE7D2DC-53E6-5C50-9C47-F09789D8772D}"/>
              </a:ext>
            </a:extLst>
          </p:cNvPr>
          <p:cNvSpPr/>
          <p:nvPr/>
        </p:nvSpPr>
        <p:spPr>
          <a:xfrm flipH="1">
            <a:off x="6901879" y="2069345"/>
            <a:ext cx="45719" cy="99328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990B3A3A-61CC-D4DD-464A-87B3994BEC78}"/>
              </a:ext>
            </a:extLst>
          </p:cNvPr>
          <p:cNvSpPr/>
          <p:nvPr/>
        </p:nvSpPr>
        <p:spPr>
          <a:xfrm flipH="1">
            <a:off x="12431256" y="2095987"/>
            <a:ext cx="45719" cy="99328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CA380E75-3078-BFA8-5A94-F8A0BE2125C6}"/>
              </a:ext>
            </a:extLst>
          </p:cNvPr>
          <p:cNvSpPr/>
          <p:nvPr/>
        </p:nvSpPr>
        <p:spPr>
          <a:xfrm>
            <a:off x="487680" y="8287275"/>
            <a:ext cx="170688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44A55A1B-084D-06CF-B4E3-403CFB801E84}"/>
              </a:ext>
            </a:extLst>
          </p:cNvPr>
          <p:cNvSpPr/>
          <p:nvPr/>
        </p:nvSpPr>
        <p:spPr>
          <a:xfrm>
            <a:off x="609600" y="8515733"/>
            <a:ext cx="10287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-48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45BE195B-AC17-F6EA-E00A-AF7B2374ABA9}"/>
              </a:ext>
            </a:extLst>
          </p:cNvPr>
          <p:cNvSpPr/>
          <p:nvPr/>
        </p:nvSpPr>
        <p:spPr>
          <a:xfrm>
            <a:off x="1468756" y="8516201"/>
            <a:ext cx="4191000" cy="429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kern="0" spc="257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NORMALIZAÇÃO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A7A4FF46-BAE6-D938-7DC4-616D1FCC6028}"/>
              </a:ext>
            </a:extLst>
          </p:cNvPr>
          <p:cNvSpPr/>
          <p:nvPr/>
        </p:nvSpPr>
        <p:spPr>
          <a:xfrm>
            <a:off x="5245445" y="8541297"/>
            <a:ext cx="19050" cy="1074241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5DD079F1-A9BD-5E9B-D414-43A020B6A313}"/>
              </a:ext>
            </a:extLst>
          </p:cNvPr>
          <p:cNvSpPr/>
          <p:nvPr/>
        </p:nvSpPr>
        <p:spPr>
          <a:xfrm>
            <a:off x="5684011" y="8544839"/>
            <a:ext cx="12058893" cy="712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92"/>
              </a:lnSpc>
              <a:buNone/>
            </a:pPr>
            <a:r>
              <a:rPr lang="en-US" dirty="0">
                <a:solidFill>
                  <a:srgbClr val="D5E0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Winsorização (corta outliers 1%/99%) → z-score transversal diário : põe ações de volatilidades diferentes na mesma régua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7184E3A0-EB9A-78DF-5BA2-696A89F57776}"/>
              </a:ext>
            </a:extLst>
          </p:cNvPr>
          <p:cNvSpPr/>
          <p:nvPr/>
        </p:nvSpPr>
        <p:spPr>
          <a:xfrm>
            <a:off x="5684011" y="9262586"/>
            <a:ext cx="12211293" cy="1024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Suavização por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móvel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Se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considerarmos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peso das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ações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operarmos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variação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giro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fica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alto,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transações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Para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isso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media dos 21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últimos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pregões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opera com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</a:t>
            </a:r>
            <a:endParaRPr lang="en-US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835A3-F30A-D4D5-8212-238C447E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35D3A01F-EDCE-DFC3-1BC1-97D202BAC633}"/>
              </a:ext>
            </a:extLst>
          </p:cNvPr>
          <p:cNvSpPr/>
          <p:nvPr/>
        </p:nvSpPr>
        <p:spPr>
          <a:xfrm>
            <a:off x="609600" y="610265"/>
            <a:ext cx="17068800" cy="118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22"/>
              </a:lnSpc>
              <a:buNone/>
            </a:pPr>
            <a:r>
              <a:rPr lang="en-US" sz="4000" b="1" kern="0" spc="-84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A35FD3-5965-3C5C-1001-74F3BDBDD249}"/>
              </a:ext>
            </a:extLst>
          </p:cNvPr>
          <p:cNvSpPr/>
          <p:nvPr/>
        </p:nvSpPr>
        <p:spPr>
          <a:xfrm>
            <a:off x="487680" y="1353821"/>
            <a:ext cx="1706880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AC0C3FC-05C4-48A5-BE44-60E8DFD9EF5B}"/>
              </a:ext>
            </a:extLst>
          </p:cNvPr>
          <p:cNvSpPr/>
          <p:nvPr/>
        </p:nvSpPr>
        <p:spPr>
          <a:xfrm>
            <a:off x="609600" y="1699927"/>
            <a:ext cx="10287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12"/>
              </a:lnSpc>
              <a:buNone/>
            </a:pPr>
            <a:r>
              <a:rPr lang="en-US" sz="2400" b="1" kern="0" spc="-48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BD368BD-35D4-212C-4A67-7BF2CD01893A}"/>
              </a:ext>
            </a:extLst>
          </p:cNvPr>
          <p:cNvSpPr/>
          <p:nvPr/>
        </p:nvSpPr>
        <p:spPr>
          <a:xfrm>
            <a:off x="1405831" y="1694359"/>
            <a:ext cx="4120514" cy="510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9412"/>
              </a:lnSpc>
            </a:pPr>
            <a:r>
              <a:rPr lang="en-US" sz="2400" b="1" kern="0" spc="257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DO MODELO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l">
              <a:lnSpc>
                <a:spcPct val="109412"/>
              </a:lnSpc>
              <a:buNone/>
            </a:pPr>
            <a:endParaRPr lang="en-US" sz="2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3E2BC84-D3A5-0D42-6ECC-AF278DB7512D}"/>
              </a:ext>
            </a:extLst>
          </p:cNvPr>
          <p:cNvSpPr/>
          <p:nvPr/>
        </p:nvSpPr>
        <p:spPr>
          <a:xfrm>
            <a:off x="5372100" y="1624507"/>
            <a:ext cx="19050" cy="1062831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DF078A1-0E19-7181-5432-9985AE32E408}"/>
              </a:ext>
            </a:extLst>
          </p:cNvPr>
          <p:cNvSpPr/>
          <p:nvPr/>
        </p:nvSpPr>
        <p:spPr>
          <a:xfrm>
            <a:off x="5675948" y="1277471"/>
            <a:ext cx="10205085" cy="2137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3529"/>
              </a:lnSpc>
            </a:pPr>
            <a:b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pt-BR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inicial proporcional ao resultado do z-score, depois recalibrado por </a:t>
            </a:r>
            <a:r>
              <a:rPr lang="pt-BR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vol-targeting</a:t>
            </a:r>
            <a:r>
              <a:rPr lang="pt-BR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limitado pelas travas de risco. O que sai é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m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vetor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 de pesos long-short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por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ativo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rebalanceado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diariamente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 e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executado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em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cs typeface="Arial" pitchFamily="34" charset="-120"/>
              </a:rPr>
              <a:t> T+1.</a:t>
            </a:r>
            <a:br>
              <a:rPr lang="pt-BR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Travas de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vol-targeting 12% ·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10% do volume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5%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25%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  <a:p>
            <a:pPr>
              <a:lnSpc>
                <a:spcPct val="123529"/>
              </a:lnSpc>
            </a:pPr>
            <a:endParaRPr lang="pt-BR" dirty="0">
              <a:solidFill>
                <a:srgbClr val="D5E0F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EC2A28D-B255-7A97-9FE5-DA9640D8BE4B}"/>
              </a:ext>
            </a:extLst>
          </p:cNvPr>
          <p:cNvSpPr txBox="1"/>
          <p:nvPr/>
        </p:nvSpPr>
        <p:spPr>
          <a:xfrm>
            <a:off x="506264" y="4171542"/>
            <a:ext cx="16322041" cy="56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73745"/>
              </a:lnSpc>
              <a:buNone/>
            </a:pPr>
            <a:r>
              <a:rPr lang="en-US" sz="4000" b="1" kern="0" spc="-78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endParaRPr lang="en-US" sz="4000" dirty="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201266CD-D89C-1C0D-C9D3-13AC349C1664}"/>
              </a:ext>
            </a:extLst>
          </p:cNvPr>
          <p:cNvSpPr/>
          <p:nvPr/>
        </p:nvSpPr>
        <p:spPr>
          <a:xfrm>
            <a:off x="0" y="3795856"/>
            <a:ext cx="18288000" cy="46261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24">
            <a:extLst>
              <a:ext uri="{FF2B5EF4-FFF2-40B4-BE49-F238E27FC236}">
                <a16:creationId xmlns:a16="http://schemas.microsoft.com/office/drawing/2014/main" id="{7B43CF3D-0514-90B7-9351-1879C4E0A6DC}"/>
              </a:ext>
            </a:extLst>
          </p:cNvPr>
          <p:cNvSpPr/>
          <p:nvPr/>
        </p:nvSpPr>
        <p:spPr>
          <a:xfrm>
            <a:off x="609600" y="4936743"/>
            <a:ext cx="58464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pt-BR" sz="1600" b="1" kern="0" spc="257" dirty="0">
                <a:solidFill>
                  <a:srgbClr val="FF7A29"/>
                </a:solidFill>
                <a:latin typeface="Arial" pitchFamily="34" charset="0"/>
                <a:cs typeface="Arial" pitchFamily="34" charset="-120"/>
              </a:rPr>
              <a:t>C</a:t>
            </a:r>
            <a:r>
              <a:rPr lang="en-US" sz="1600" b="1" kern="0" spc="257" dirty="0">
                <a:solidFill>
                  <a:srgbClr val="FF7A29"/>
                </a:solidFill>
                <a:latin typeface="Arial" pitchFamily="34" charset="0"/>
                <a:cs typeface="Arial" pitchFamily="34" charset="-120"/>
              </a:rPr>
              <a:t>RIAÇÃO E VALIDAÇÃO</a:t>
            </a:r>
            <a:endParaRPr lang="en-US" sz="1600" dirty="0"/>
          </a:p>
        </p:txBody>
      </p:sp>
      <p:sp>
        <p:nvSpPr>
          <p:cNvPr id="3" name="Text 25">
            <a:extLst>
              <a:ext uri="{FF2B5EF4-FFF2-40B4-BE49-F238E27FC236}">
                <a16:creationId xmlns:a16="http://schemas.microsoft.com/office/drawing/2014/main" id="{39A430F8-C3F6-50E6-EF37-773499E670DB}"/>
              </a:ext>
            </a:extLst>
          </p:cNvPr>
          <p:cNvSpPr/>
          <p:nvPr/>
        </p:nvSpPr>
        <p:spPr>
          <a:xfrm>
            <a:off x="609600" y="5279643"/>
            <a:ext cx="5474399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6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pronta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IA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acelerou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escrita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576F1DA6-0504-2BB0-902C-02B58E672238}"/>
              </a:ext>
            </a:extLst>
          </p:cNvPr>
          <p:cNvSpPr/>
          <p:nvPr/>
        </p:nvSpPr>
        <p:spPr>
          <a:xfrm>
            <a:off x="609600" y="6220535"/>
            <a:ext cx="5314950" cy="1438275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27">
            <a:extLst>
              <a:ext uri="{FF2B5EF4-FFF2-40B4-BE49-F238E27FC236}">
                <a16:creationId xmlns:a16="http://schemas.microsoft.com/office/drawing/2014/main" id="{39175405-3858-B559-B26A-A5C80A2A7AC0}"/>
              </a:ext>
            </a:extLst>
          </p:cNvPr>
          <p:cNvSpPr/>
          <p:nvPr/>
        </p:nvSpPr>
        <p:spPr>
          <a:xfrm>
            <a:off x="609600" y="6220535"/>
            <a:ext cx="57150" cy="1438275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D6ACF1FB-B945-7562-437B-A100A5CBA11C}"/>
              </a:ext>
            </a:extLst>
          </p:cNvPr>
          <p:cNvSpPr/>
          <p:nvPr/>
        </p:nvSpPr>
        <p:spPr>
          <a:xfrm>
            <a:off x="819150" y="6353885"/>
            <a:ext cx="54483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DO MOTOR</a:t>
            </a:r>
            <a:endParaRPr lang="en-US" sz="1350" dirty="0"/>
          </a:p>
        </p:txBody>
      </p:sp>
      <p:sp>
        <p:nvSpPr>
          <p:cNvPr id="11" name="Shape 29">
            <a:extLst>
              <a:ext uri="{FF2B5EF4-FFF2-40B4-BE49-F238E27FC236}">
                <a16:creationId xmlns:a16="http://schemas.microsoft.com/office/drawing/2014/main" id="{050B6D9C-5F9B-93B7-BADB-4FC6AA225E92}"/>
              </a:ext>
            </a:extLst>
          </p:cNvPr>
          <p:cNvSpPr/>
          <p:nvPr/>
        </p:nvSpPr>
        <p:spPr>
          <a:xfrm>
            <a:off x="819150" y="6626935"/>
            <a:ext cx="1601093" cy="311150"/>
          </a:xfrm>
          <a:prstGeom prst="rect">
            <a:avLst/>
          </a:prstGeom>
          <a:ln w="19050">
            <a:solidFill>
              <a:srgbClr val="5C74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A5127F69-0EB0-C4DE-95DD-D803DE5B612F}"/>
              </a:ext>
            </a:extLst>
          </p:cNvPr>
          <p:cNvSpPr/>
          <p:nvPr/>
        </p:nvSpPr>
        <p:spPr>
          <a:xfrm>
            <a:off x="923925" y="6684085"/>
            <a:ext cx="146774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equal-weight</a:t>
            </a:r>
            <a:endParaRPr lang="en-US" sz="1350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6670B5D5-4247-0DB9-E190-1502B50B4A46}"/>
              </a:ext>
            </a:extLst>
          </p:cNvPr>
          <p:cNvSpPr/>
          <p:nvPr/>
        </p:nvSpPr>
        <p:spPr>
          <a:xfrm>
            <a:off x="2534543" y="6684085"/>
            <a:ext cx="2476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4" name="Shape 32">
            <a:extLst>
              <a:ext uri="{FF2B5EF4-FFF2-40B4-BE49-F238E27FC236}">
                <a16:creationId xmlns:a16="http://schemas.microsoft.com/office/drawing/2014/main" id="{F562D2BC-7BB5-4D1B-90C2-A2F81BCE9934}"/>
              </a:ext>
            </a:extLst>
          </p:cNvPr>
          <p:cNvSpPr/>
          <p:nvPr/>
        </p:nvSpPr>
        <p:spPr>
          <a:xfrm>
            <a:off x="2820293" y="6626935"/>
            <a:ext cx="1772742" cy="311150"/>
          </a:xfrm>
          <a:prstGeom prst="rect">
            <a:avLst/>
          </a:prstGeom>
          <a:ln w="19050">
            <a:solidFill>
              <a:srgbClr val="5C74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33">
            <a:extLst>
              <a:ext uri="{FF2B5EF4-FFF2-40B4-BE49-F238E27FC236}">
                <a16:creationId xmlns:a16="http://schemas.microsoft.com/office/drawing/2014/main" id="{7F002C5C-C791-DB8A-D13A-F804F1795F0C}"/>
              </a:ext>
            </a:extLst>
          </p:cNvPr>
          <p:cNvSpPr/>
          <p:nvPr/>
        </p:nvSpPr>
        <p:spPr>
          <a:xfrm>
            <a:off x="2925068" y="6684085"/>
            <a:ext cx="163939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reproduz o Ibovespa</a:t>
            </a:r>
            <a:endParaRPr lang="en-US" sz="1350" dirty="0"/>
          </a:p>
        </p:txBody>
      </p:sp>
      <p:sp>
        <p:nvSpPr>
          <p:cNvPr id="17" name="Text 34">
            <a:extLst>
              <a:ext uri="{FF2B5EF4-FFF2-40B4-BE49-F238E27FC236}">
                <a16:creationId xmlns:a16="http://schemas.microsoft.com/office/drawing/2014/main" id="{72132636-A6D2-467F-A792-668BCC203120}"/>
              </a:ext>
            </a:extLst>
          </p:cNvPr>
          <p:cNvSpPr/>
          <p:nvPr/>
        </p:nvSpPr>
        <p:spPr>
          <a:xfrm>
            <a:off x="819150" y="7033335"/>
            <a:ext cx="5101590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455"/>
              </a:lnSpc>
              <a:buNone/>
            </a:pP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correlação diária com o índice confirmou que o motor estava correto </a:t>
            </a: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aplicar o sinal SINAPSE.</a:t>
            </a:r>
            <a:endParaRPr lang="en-US" sz="1425" dirty="0"/>
          </a:p>
        </p:txBody>
      </p:sp>
      <p:sp>
        <p:nvSpPr>
          <p:cNvPr id="24" name="Shape 35">
            <a:extLst>
              <a:ext uri="{FF2B5EF4-FFF2-40B4-BE49-F238E27FC236}">
                <a16:creationId xmlns:a16="http://schemas.microsoft.com/office/drawing/2014/main" id="{787CBA0F-7800-2B02-1371-8DC5F0EBD9F6}"/>
              </a:ext>
            </a:extLst>
          </p:cNvPr>
          <p:cNvSpPr/>
          <p:nvPr/>
        </p:nvSpPr>
        <p:spPr>
          <a:xfrm flipH="1">
            <a:off x="6240781" y="4936743"/>
            <a:ext cx="45719" cy="3252499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36">
            <a:extLst>
              <a:ext uri="{FF2B5EF4-FFF2-40B4-BE49-F238E27FC236}">
                <a16:creationId xmlns:a16="http://schemas.microsoft.com/office/drawing/2014/main" id="{3FAFE29A-0B18-2892-F948-8FFA73CA80C3}"/>
              </a:ext>
            </a:extLst>
          </p:cNvPr>
          <p:cNvSpPr/>
          <p:nvPr/>
        </p:nvSpPr>
        <p:spPr>
          <a:xfrm>
            <a:off x="6667500" y="4936743"/>
            <a:ext cx="5448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57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· 2016–2025 </a:t>
            </a:r>
            <a:r>
              <a:rPr lang="en-US" sz="1425" b="1" kern="0" spc="257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ANOS</a:t>
            </a:r>
            <a:endParaRPr lang="en-US" sz="1425" dirty="0"/>
          </a:p>
        </p:txBody>
      </p:sp>
      <p:sp>
        <p:nvSpPr>
          <p:cNvPr id="26" name="Text 37">
            <a:extLst>
              <a:ext uri="{FF2B5EF4-FFF2-40B4-BE49-F238E27FC236}">
                <a16:creationId xmlns:a16="http://schemas.microsoft.com/office/drawing/2014/main" id="{924E54A8-CC75-2E4D-73AD-9454A0893CED}"/>
              </a:ext>
            </a:extLst>
          </p:cNvPr>
          <p:cNvSpPr/>
          <p:nvPr/>
        </p:nvSpPr>
        <p:spPr>
          <a:xfrm>
            <a:off x="6667500" y="5279643"/>
            <a:ext cx="510159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65"/>
              </a:lnSpc>
              <a:buNone/>
            </a:pP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 dados confiáveis disponíveis (COTAHIST + </a:t>
            </a:r>
            <a:r>
              <a:rPr lang="en-US" sz="1500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r>
              <a:rPr lang="en-US" sz="15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5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E2B9665A-CD81-675F-8131-38B76D388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5957704"/>
            <a:ext cx="4953000" cy="1238250"/>
          </a:xfrm>
          <a:prstGeom prst="rect">
            <a:avLst/>
          </a:prstGeom>
        </p:spPr>
      </p:pic>
      <p:sp>
        <p:nvSpPr>
          <p:cNvPr id="32" name="Text 38">
            <a:extLst>
              <a:ext uri="{FF2B5EF4-FFF2-40B4-BE49-F238E27FC236}">
                <a16:creationId xmlns:a16="http://schemas.microsoft.com/office/drawing/2014/main" id="{81E72693-E95D-FD7E-12C2-EF2B2B7DF2EA}"/>
              </a:ext>
            </a:extLst>
          </p:cNvPr>
          <p:cNvSpPr/>
          <p:nvPr/>
        </p:nvSpPr>
        <p:spPr>
          <a:xfrm>
            <a:off x="6667500" y="7310254"/>
            <a:ext cx="5101590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55"/>
              </a:lnSpc>
              <a:buNone/>
            </a:pPr>
            <a:r>
              <a:rPr lang="en-US" sz="142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múltiplos regimes de mercado.</a:t>
            </a:r>
            <a:endParaRPr lang="en-US" sz="1425" dirty="0"/>
          </a:p>
        </p:txBody>
      </p:sp>
      <p:sp>
        <p:nvSpPr>
          <p:cNvPr id="33" name="Shape 39">
            <a:extLst>
              <a:ext uri="{FF2B5EF4-FFF2-40B4-BE49-F238E27FC236}">
                <a16:creationId xmlns:a16="http://schemas.microsoft.com/office/drawing/2014/main" id="{471E8369-81E4-77BD-6E1E-B5356C40F85C}"/>
              </a:ext>
            </a:extLst>
          </p:cNvPr>
          <p:cNvSpPr/>
          <p:nvPr/>
        </p:nvSpPr>
        <p:spPr>
          <a:xfrm flipH="1">
            <a:off x="11936731" y="4936743"/>
            <a:ext cx="45719" cy="3252499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40">
            <a:extLst>
              <a:ext uri="{FF2B5EF4-FFF2-40B4-BE49-F238E27FC236}">
                <a16:creationId xmlns:a16="http://schemas.microsoft.com/office/drawing/2014/main" id="{2CF3F9DB-94F5-7433-A4DA-8F226208AB7D}"/>
              </a:ext>
            </a:extLst>
          </p:cNvPr>
          <p:cNvSpPr/>
          <p:nvPr/>
        </p:nvSpPr>
        <p:spPr>
          <a:xfrm>
            <a:off x="12363450" y="4936743"/>
            <a:ext cx="58464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57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ESCOLHAS METODOLÓGICAS</a:t>
            </a:r>
            <a:endParaRPr lang="en-US" sz="1425" dirty="0"/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463A1990-1A67-F1B3-E22C-94C601F34475}"/>
              </a:ext>
            </a:extLst>
          </p:cNvPr>
          <p:cNvSpPr/>
          <p:nvPr/>
        </p:nvSpPr>
        <p:spPr>
          <a:xfrm>
            <a:off x="12363450" y="5610836"/>
            <a:ext cx="5314950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42">
            <a:extLst>
              <a:ext uri="{FF2B5EF4-FFF2-40B4-BE49-F238E27FC236}">
                <a16:creationId xmlns:a16="http://schemas.microsoft.com/office/drawing/2014/main" id="{B8596FE4-47C9-314C-763F-F11E0EC51A9C}"/>
              </a:ext>
            </a:extLst>
          </p:cNvPr>
          <p:cNvSpPr/>
          <p:nvPr/>
        </p:nvSpPr>
        <p:spPr>
          <a:xfrm>
            <a:off x="12363450" y="5327268"/>
            <a:ext cx="1003895" cy="25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28"/>
              </a:lnSpc>
              <a:buNone/>
            </a:pPr>
            <a:r>
              <a:rPr lang="en-US" sz="1275" b="1" kern="0" spc="153" dirty="0">
                <a:solidFill>
                  <a:srgbClr val="7D9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</a:t>
            </a:r>
            <a:endParaRPr lang="en-US" sz="1275" dirty="0"/>
          </a:p>
        </p:txBody>
      </p:sp>
      <p:sp>
        <p:nvSpPr>
          <p:cNvPr id="37" name="Text 43">
            <a:extLst>
              <a:ext uri="{FF2B5EF4-FFF2-40B4-BE49-F238E27FC236}">
                <a16:creationId xmlns:a16="http://schemas.microsoft.com/office/drawing/2014/main" id="{5D9314AD-8D04-663F-2C6D-4637AF11BB47}"/>
              </a:ext>
            </a:extLst>
          </p:cNvPr>
          <p:cNvSpPr/>
          <p:nvPr/>
        </p:nvSpPr>
        <p:spPr>
          <a:xfrm>
            <a:off x="14061877" y="5340482"/>
            <a:ext cx="959048" cy="25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28"/>
              </a:lnSpc>
              <a:buNone/>
            </a:pPr>
            <a:r>
              <a:rPr lang="en-US" sz="1275" b="1" kern="0" spc="153" dirty="0">
                <a:solidFill>
                  <a:srgbClr val="7D9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1275" dirty="0"/>
          </a:p>
        </p:txBody>
      </p:sp>
      <p:sp>
        <p:nvSpPr>
          <p:cNvPr id="38" name="Shape 44">
            <a:extLst>
              <a:ext uri="{FF2B5EF4-FFF2-40B4-BE49-F238E27FC236}">
                <a16:creationId xmlns:a16="http://schemas.microsoft.com/office/drawing/2014/main" id="{D2F75745-0F04-B3F4-0AC6-01AA19A6959F}"/>
              </a:ext>
            </a:extLst>
          </p:cNvPr>
          <p:cNvSpPr/>
          <p:nvPr/>
        </p:nvSpPr>
        <p:spPr>
          <a:xfrm>
            <a:off x="12363450" y="6324417"/>
            <a:ext cx="5314950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45">
            <a:extLst>
              <a:ext uri="{FF2B5EF4-FFF2-40B4-BE49-F238E27FC236}">
                <a16:creationId xmlns:a16="http://schemas.microsoft.com/office/drawing/2014/main" id="{9B35F9EB-F576-AD43-D8B5-1847989CEA4A}"/>
              </a:ext>
            </a:extLst>
          </p:cNvPr>
          <p:cNvSpPr/>
          <p:nvPr/>
        </p:nvSpPr>
        <p:spPr>
          <a:xfrm>
            <a:off x="12363450" y="5734661"/>
            <a:ext cx="1504950" cy="5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5 bps/giro</a:t>
            </a:r>
            <a:endParaRPr lang="en-US" sz="1425" dirty="0"/>
          </a:p>
        </p:txBody>
      </p:sp>
      <p:sp>
        <p:nvSpPr>
          <p:cNvPr id="40" name="Text 46">
            <a:extLst>
              <a:ext uri="{FF2B5EF4-FFF2-40B4-BE49-F238E27FC236}">
                <a16:creationId xmlns:a16="http://schemas.microsoft.com/office/drawing/2014/main" id="{287DFEDD-32A3-2B85-C76E-2E6C86C38365}"/>
              </a:ext>
            </a:extLst>
          </p:cNvPr>
          <p:cNvSpPr/>
          <p:nvPr/>
        </p:nvSpPr>
        <p:spPr>
          <a:xfrm>
            <a:off x="14010483" y="5734661"/>
            <a:ext cx="3865436" cy="5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conservadora de corretagem + slippage para a B3</a:t>
            </a:r>
            <a:endParaRPr lang="en-US" sz="1425" dirty="0"/>
          </a:p>
        </p:txBody>
      </p:sp>
      <p:sp>
        <p:nvSpPr>
          <p:cNvPr id="41" name="Shape 47">
            <a:extLst>
              <a:ext uri="{FF2B5EF4-FFF2-40B4-BE49-F238E27FC236}">
                <a16:creationId xmlns:a16="http://schemas.microsoft.com/office/drawing/2014/main" id="{A7A8AAE2-5849-DE80-639F-58ED9BC0B728}"/>
              </a:ext>
            </a:extLst>
          </p:cNvPr>
          <p:cNvSpPr/>
          <p:nvPr/>
        </p:nvSpPr>
        <p:spPr>
          <a:xfrm>
            <a:off x="12363450" y="7037998"/>
            <a:ext cx="5314950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8">
            <a:extLst>
              <a:ext uri="{FF2B5EF4-FFF2-40B4-BE49-F238E27FC236}">
                <a16:creationId xmlns:a16="http://schemas.microsoft.com/office/drawing/2014/main" id="{578D232E-FB2B-480C-5C28-A6FCEA6CB610}"/>
              </a:ext>
            </a:extLst>
          </p:cNvPr>
          <p:cNvSpPr/>
          <p:nvPr/>
        </p:nvSpPr>
        <p:spPr>
          <a:xfrm>
            <a:off x="12363450" y="6448242"/>
            <a:ext cx="1504950" cy="5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Defasagem T+1</a:t>
            </a:r>
            <a:endParaRPr lang="en-US" sz="1425" dirty="0"/>
          </a:p>
        </p:txBody>
      </p:sp>
      <p:sp>
        <p:nvSpPr>
          <p:cNvPr id="44" name="Text 49">
            <a:extLst>
              <a:ext uri="{FF2B5EF4-FFF2-40B4-BE49-F238E27FC236}">
                <a16:creationId xmlns:a16="http://schemas.microsoft.com/office/drawing/2014/main" id="{94CC84B4-8013-26D9-EB22-46BFE0A06506}"/>
              </a:ext>
            </a:extLst>
          </p:cNvPr>
          <p:cNvSpPr/>
          <p:nvPr/>
        </p:nvSpPr>
        <p:spPr>
          <a:xfrm>
            <a:off x="14010483" y="6448242"/>
            <a:ext cx="3865436" cy="5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se opera no mesmo preço que gerou o sinal (anti look-ahead)</a:t>
            </a:r>
            <a:endParaRPr lang="en-US" sz="1425" dirty="0"/>
          </a:p>
        </p:txBody>
      </p:sp>
      <p:sp>
        <p:nvSpPr>
          <p:cNvPr id="45" name="Shape 50">
            <a:extLst>
              <a:ext uri="{FF2B5EF4-FFF2-40B4-BE49-F238E27FC236}">
                <a16:creationId xmlns:a16="http://schemas.microsoft.com/office/drawing/2014/main" id="{EE1ED2CB-7241-8989-D62A-09A6CD1C9D50}"/>
              </a:ext>
            </a:extLst>
          </p:cNvPr>
          <p:cNvSpPr/>
          <p:nvPr/>
        </p:nvSpPr>
        <p:spPr>
          <a:xfrm>
            <a:off x="12363450" y="7751580"/>
            <a:ext cx="5314950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51">
            <a:extLst>
              <a:ext uri="{FF2B5EF4-FFF2-40B4-BE49-F238E27FC236}">
                <a16:creationId xmlns:a16="http://schemas.microsoft.com/office/drawing/2014/main" id="{F6BBDC18-890A-D469-2D88-CE73C9881ABC}"/>
              </a:ext>
            </a:extLst>
          </p:cNvPr>
          <p:cNvSpPr/>
          <p:nvPr/>
        </p:nvSpPr>
        <p:spPr>
          <a:xfrm>
            <a:off x="12363450" y="7161823"/>
            <a:ext cx="1504950" cy="5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Beta-neutro</a:t>
            </a:r>
            <a:endParaRPr lang="en-US" sz="1425" dirty="0"/>
          </a:p>
        </p:txBody>
      </p:sp>
      <p:sp>
        <p:nvSpPr>
          <p:cNvPr id="50" name="Text 52">
            <a:extLst>
              <a:ext uri="{FF2B5EF4-FFF2-40B4-BE49-F238E27FC236}">
                <a16:creationId xmlns:a16="http://schemas.microsoft.com/office/drawing/2014/main" id="{6529807A-9531-2DCE-F18E-19F8DFAFF78E}"/>
              </a:ext>
            </a:extLst>
          </p:cNvPr>
          <p:cNvSpPr/>
          <p:nvPr/>
        </p:nvSpPr>
        <p:spPr>
          <a:xfrm>
            <a:off x="14010483" y="7136226"/>
            <a:ext cx="3865436" cy="5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 o alfa da estratégia; não captura beta de mercado</a:t>
            </a:r>
            <a:endParaRPr lang="en-US" sz="1425" dirty="0"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CCE6C55F-C851-B594-392F-C414EED0D6FC}"/>
              </a:ext>
            </a:extLst>
          </p:cNvPr>
          <p:cNvSpPr/>
          <p:nvPr/>
        </p:nvSpPr>
        <p:spPr>
          <a:xfrm>
            <a:off x="14432000" y="9573918"/>
            <a:ext cx="1571625" cy="280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Rebal. diário</a:t>
            </a:r>
            <a:endParaRPr lang="en-US" sz="1425" dirty="0"/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75FD7780-CFAA-4C84-84D0-F0B6EAD2239E}"/>
              </a:ext>
            </a:extLst>
          </p:cNvPr>
          <p:cNvSpPr/>
          <p:nvPr/>
        </p:nvSpPr>
        <p:spPr>
          <a:xfrm>
            <a:off x="14010483" y="7875405"/>
            <a:ext cx="4128135" cy="280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coerente com o sinal, recalculado todo pregão</a:t>
            </a:r>
            <a:endParaRPr lang="en-US" sz="1425" dirty="0"/>
          </a:p>
        </p:txBody>
      </p:sp>
      <p:sp>
        <p:nvSpPr>
          <p:cNvPr id="53" name="Shape 55">
            <a:extLst>
              <a:ext uri="{FF2B5EF4-FFF2-40B4-BE49-F238E27FC236}">
                <a16:creationId xmlns:a16="http://schemas.microsoft.com/office/drawing/2014/main" id="{6B3CB1FA-29B0-8277-2507-9D51AE476FD0}"/>
              </a:ext>
            </a:extLst>
          </p:cNvPr>
          <p:cNvSpPr/>
          <p:nvPr/>
        </p:nvSpPr>
        <p:spPr>
          <a:xfrm>
            <a:off x="666750" y="9413560"/>
            <a:ext cx="17068800" cy="6096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7">
            <a:extLst>
              <a:ext uri="{FF2B5EF4-FFF2-40B4-BE49-F238E27FC236}">
                <a16:creationId xmlns:a16="http://schemas.microsoft.com/office/drawing/2014/main" id="{4E3D9117-E51A-D501-22DA-CE7FFB0E4AF4}"/>
              </a:ext>
            </a:extLst>
          </p:cNvPr>
          <p:cNvSpPr/>
          <p:nvPr/>
        </p:nvSpPr>
        <p:spPr>
          <a:xfrm>
            <a:off x="1078231" y="9525242"/>
            <a:ext cx="15613380" cy="422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simulação reflete a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sinal long-short → carteira long-short; a satélite é a posição → é ela que entra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dirty="0"/>
          </a:p>
        </p:txBody>
      </p:sp>
      <p:sp>
        <p:nvSpPr>
          <p:cNvPr id="57" name="Shape 41">
            <a:extLst>
              <a:ext uri="{FF2B5EF4-FFF2-40B4-BE49-F238E27FC236}">
                <a16:creationId xmlns:a16="http://schemas.microsoft.com/office/drawing/2014/main" id="{458011E8-6C2C-534F-F147-19FB676E3EC5}"/>
              </a:ext>
            </a:extLst>
          </p:cNvPr>
          <p:cNvSpPr/>
          <p:nvPr/>
        </p:nvSpPr>
        <p:spPr>
          <a:xfrm rot="5400000">
            <a:off x="12401248" y="6681234"/>
            <a:ext cx="3039400" cy="45719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6AFCBF54-BFB0-5A5C-6071-D906286B8FFD}"/>
              </a:ext>
            </a:extLst>
          </p:cNvPr>
          <p:cNvSpPr/>
          <p:nvPr/>
        </p:nvSpPr>
        <p:spPr>
          <a:xfrm>
            <a:off x="609600" y="3201922"/>
            <a:ext cx="16946880" cy="68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Sistemático e replicável: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mesmas entradas </a:t>
            </a:r>
            <a:r>
              <a:rPr lang="en-US" sz="1875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8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</a:t>
            </a:r>
            <a:endParaRPr lang="en-US" sz="1875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A7AEAD29-AC83-F237-0F2A-891E5D740B69}"/>
              </a:ext>
            </a:extLst>
          </p:cNvPr>
          <p:cNvSpPr/>
          <p:nvPr/>
        </p:nvSpPr>
        <p:spPr>
          <a:xfrm>
            <a:off x="666751" y="8233870"/>
            <a:ext cx="331885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57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VIESES QUE CORRIGIMOS</a:t>
            </a:r>
            <a:endParaRPr lang="en-US" sz="1425" dirty="0"/>
          </a:p>
        </p:txBody>
      </p:sp>
      <p:sp>
        <p:nvSpPr>
          <p:cNvPr id="60" name="Shape 15">
            <a:extLst>
              <a:ext uri="{FF2B5EF4-FFF2-40B4-BE49-F238E27FC236}">
                <a16:creationId xmlns:a16="http://schemas.microsoft.com/office/drawing/2014/main" id="{4B01C5AB-DA3E-E1DB-E91A-5D8B3963FA67}"/>
              </a:ext>
            </a:extLst>
          </p:cNvPr>
          <p:cNvSpPr/>
          <p:nvPr/>
        </p:nvSpPr>
        <p:spPr>
          <a:xfrm>
            <a:off x="666751" y="8513264"/>
            <a:ext cx="5314950" cy="45719"/>
          </a:xfrm>
          <a:prstGeom prst="rect">
            <a:avLst/>
          </a:prstGeom>
          <a:solidFill>
            <a:srgbClr val="5C7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5868E669-36C8-F4B2-57F2-623D60F51E28}"/>
              </a:ext>
            </a:extLst>
          </p:cNvPr>
          <p:cNvSpPr/>
          <p:nvPr/>
        </p:nvSpPr>
        <p:spPr>
          <a:xfrm>
            <a:off x="666750" y="8627565"/>
            <a:ext cx="5417249" cy="100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Look-ahead: 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defasagem T+1, suavização só com passado, datação point-in-time dos documentos CVM.</a:t>
            </a:r>
            <a:endParaRPr lang="en-US" sz="1425" dirty="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D807C5AB-4F1C-E366-1F7D-81484B81E11C}"/>
              </a:ext>
            </a:extLst>
          </p:cNvPr>
          <p:cNvSpPr/>
          <p:nvPr/>
        </p:nvSpPr>
        <p:spPr>
          <a:xfrm>
            <a:off x="6456046" y="8526148"/>
            <a:ext cx="6253370" cy="45720"/>
          </a:xfrm>
          <a:prstGeom prst="rect">
            <a:avLst/>
          </a:prstGeom>
          <a:solidFill>
            <a:srgbClr val="5C7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8D9E1D14-1CB3-9460-A185-5893D53CCC76}"/>
              </a:ext>
            </a:extLst>
          </p:cNvPr>
          <p:cNvSpPr/>
          <p:nvPr/>
        </p:nvSpPr>
        <p:spPr>
          <a:xfrm>
            <a:off x="6456045" y="8625532"/>
            <a:ext cx="6253371" cy="100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Survivorship: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vivas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ajustado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COTAHIST (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mortas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42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normal) elevou a cobertura de </a:t>
            </a:r>
            <a:r>
              <a:rPr lang="en-US" sz="142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 → 98% </a:t>
            </a:r>
            <a:endParaRPr lang="en-US" sz="1425" dirty="0"/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CA3FFFE0-6D95-F5E6-CED2-972AD94EC187}"/>
              </a:ext>
            </a:extLst>
          </p:cNvPr>
          <p:cNvSpPr/>
          <p:nvPr/>
        </p:nvSpPr>
        <p:spPr>
          <a:xfrm>
            <a:off x="13183761" y="8494699"/>
            <a:ext cx="4568366" cy="45719"/>
          </a:xfrm>
          <a:prstGeom prst="rect">
            <a:avLst/>
          </a:prstGeom>
          <a:solidFill>
            <a:srgbClr val="5C7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6C3EDC59-2097-8080-4D2C-569011C38F45}"/>
              </a:ext>
            </a:extLst>
          </p:cNvPr>
          <p:cNvSpPr/>
          <p:nvPr/>
        </p:nvSpPr>
        <p:spPr>
          <a:xfrm>
            <a:off x="13183760" y="8571868"/>
            <a:ext cx="4921067" cy="588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do grafo: 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elos de empresas mortas (Kroton, B2W, Cielo…) incluídos. Custou </a:t>
            </a:r>
            <a:r>
              <a:rPr lang="en-US" sz="142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−0,58 p.p./ano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71" name="Text 53">
            <a:extLst>
              <a:ext uri="{FF2B5EF4-FFF2-40B4-BE49-F238E27FC236}">
                <a16:creationId xmlns:a16="http://schemas.microsoft.com/office/drawing/2014/main" id="{6A9A3E80-9E40-B323-2A98-E2224AECF547}"/>
              </a:ext>
            </a:extLst>
          </p:cNvPr>
          <p:cNvSpPr/>
          <p:nvPr/>
        </p:nvSpPr>
        <p:spPr>
          <a:xfrm>
            <a:off x="12372183" y="7875404"/>
            <a:ext cx="1571625" cy="280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Rebal. diário</a:t>
            </a:r>
            <a:endParaRPr lang="en-US" sz="1425" dirty="0"/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3F61352C-B1B1-1129-EA30-956DE21077A4}"/>
              </a:ext>
            </a:extLst>
          </p:cNvPr>
          <p:cNvSpPr/>
          <p:nvPr/>
        </p:nvSpPr>
        <p:spPr>
          <a:xfrm>
            <a:off x="506264" y="4769348"/>
            <a:ext cx="1706880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9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09600" y="1295400"/>
            <a:ext cx="1706880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1" b="-41"/>
          <a:stretch/>
        </p:blipFill>
        <p:spPr>
          <a:xfrm>
            <a:off x="609600" y="2114550"/>
            <a:ext cx="9944100" cy="39052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00" y="6286500"/>
            <a:ext cx="1479550" cy="3302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6353175"/>
            <a:ext cx="12890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ILUSTRATIVA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98700" y="6286500"/>
            <a:ext cx="2943225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135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a série real. Ibovespa +279,8% · CDI +141,9%.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65750" y="6286500"/>
            <a:ext cx="57150" cy="787003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13400" y="6286500"/>
            <a:ext cx="5245481" cy="825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SINAPSE = alfa descorrelacionado. 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 retorno absoluto com o Ibovespa é comparar coisas diferentes: o Ibov é </a:t>
            </a:r>
            <a:r>
              <a:rPr lang="en-US" sz="142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tomba nos crashes; a SINAPSE é </a:t>
            </a:r>
            <a:r>
              <a:rPr lang="en-US" sz="142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</a:t>
            </a:r>
            <a:r>
              <a:rPr lang="en-US" sz="142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plano e estável.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7124700"/>
            <a:ext cx="36919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150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POR REGIME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4156373" y="7137400"/>
            <a:ext cx="461261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estratégia atravessou cada regime de mercado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9600" y="7391400"/>
            <a:ext cx="9944100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9600" y="7543800"/>
            <a:ext cx="3450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· Crash COVID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609600" y="7829550"/>
            <a:ext cx="3231007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Ibov despencou; a carteira descorrelacionada </a:t>
            </a:r>
            <a:r>
              <a:rPr lang="en-US" sz="1350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[__% vs __% do Ibov] </a:t>
            </a: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013200" y="7543800"/>
            <a:ext cx="3450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2021–22 · Alta de juros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4013200" y="7829550"/>
            <a:ext cx="3231007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que costuma quebrar momentum tradicional; a SINAPSE </a:t>
            </a:r>
            <a:r>
              <a:rPr lang="en-US" sz="1350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[__% no período] </a:t>
            </a: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416800" y="7543800"/>
            <a:ext cx="3450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/ pior ano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7416800" y="7829550"/>
            <a:ext cx="345059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</a:t>
            </a:r>
            <a:r>
              <a:rPr lang="en-US" sz="1350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[+__%] </a:t>
            </a: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pior </a:t>
            </a:r>
            <a:r>
              <a:rPr lang="en-US" sz="1350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[−__%]</a:t>
            </a:r>
            <a:r>
              <a:rPr lang="en-US" sz="1350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0991850" y="1771650"/>
            <a:ext cx="19050" cy="697230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449050" y="1714500"/>
            <a:ext cx="69151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150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1449050" y="2000250"/>
            <a:ext cx="69151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anos, líquido de custos.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11449050" y="2895600"/>
            <a:ext cx="456733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1449050" y="2546350"/>
            <a:ext cx="470435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 acumulado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16206887" y="2895600"/>
            <a:ext cx="1528663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6130687" y="2533650"/>
            <a:ext cx="16048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+27,9%</a:t>
            </a:r>
            <a:endParaRPr lang="en-US" sz="1725" dirty="0"/>
          </a:p>
        </p:txBody>
      </p:sp>
      <p:sp>
        <p:nvSpPr>
          <p:cNvPr id="30" name="Shape 27"/>
          <p:cNvSpPr/>
          <p:nvPr/>
        </p:nvSpPr>
        <p:spPr>
          <a:xfrm>
            <a:off x="11449050" y="3409950"/>
            <a:ext cx="456733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1449050" y="3060700"/>
            <a:ext cx="470435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 anualizado</a:t>
            </a:r>
            <a:endParaRPr lang="en-US" sz="1575" dirty="0"/>
          </a:p>
        </p:txBody>
      </p:sp>
      <p:sp>
        <p:nvSpPr>
          <p:cNvPr id="32" name="Shape 29"/>
          <p:cNvSpPr/>
          <p:nvPr/>
        </p:nvSpPr>
        <p:spPr>
          <a:xfrm>
            <a:off x="16206887" y="3409950"/>
            <a:ext cx="1528663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6130687" y="3048000"/>
            <a:ext cx="16048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+2,81%/ano</a:t>
            </a:r>
            <a:endParaRPr lang="en-US" sz="1725" dirty="0"/>
          </a:p>
        </p:txBody>
      </p:sp>
      <p:sp>
        <p:nvSpPr>
          <p:cNvPr id="34" name="Shape 31"/>
          <p:cNvSpPr/>
          <p:nvPr/>
        </p:nvSpPr>
        <p:spPr>
          <a:xfrm>
            <a:off x="11449050" y="3924300"/>
            <a:ext cx="456733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1449050" y="3575050"/>
            <a:ext cx="470435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575" dirty="0"/>
          </a:p>
        </p:txBody>
      </p:sp>
      <p:sp>
        <p:nvSpPr>
          <p:cNvPr id="36" name="Shape 33"/>
          <p:cNvSpPr/>
          <p:nvPr/>
        </p:nvSpPr>
        <p:spPr>
          <a:xfrm>
            <a:off x="16206887" y="3924300"/>
            <a:ext cx="1528663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6130687" y="3562350"/>
            <a:ext cx="16048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0,36</a:t>
            </a:r>
            <a:endParaRPr lang="en-US" sz="1725" dirty="0"/>
          </a:p>
        </p:txBody>
      </p:sp>
      <p:sp>
        <p:nvSpPr>
          <p:cNvPr id="38" name="Shape 35"/>
          <p:cNvSpPr/>
          <p:nvPr/>
        </p:nvSpPr>
        <p:spPr>
          <a:xfrm>
            <a:off x="11449050" y="4438650"/>
            <a:ext cx="456733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1449050" y="4089400"/>
            <a:ext cx="470435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c/ Ibovespa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16206887" y="4438650"/>
            <a:ext cx="1528663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6130687" y="4076700"/>
            <a:ext cx="16048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−0,01</a:t>
            </a:r>
            <a:endParaRPr lang="en-US" sz="1725" dirty="0"/>
          </a:p>
        </p:txBody>
      </p:sp>
      <p:sp>
        <p:nvSpPr>
          <p:cNvPr id="42" name="Shape 39"/>
          <p:cNvSpPr/>
          <p:nvPr/>
        </p:nvSpPr>
        <p:spPr>
          <a:xfrm>
            <a:off x="11449050" y="4953000"/>
            <a:ext cx="456733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1449050" y="4603750"/>
            <a:ext cx="470435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Volatilidade realizada</a:t>
            </a:r>
            <a:endParaRPr lang="en-US" sz="1575" dirty="0"/>
          </a:p>
        </p:txBody>
      </p:sp>
      <p:sp>
        <p:nvSpPr>
          <p:cNvPr id="44" name="Shape 41"/>
          <p:cNvSpPr/>
          <p:nvPr/>
        </p:nvSpPr>
        <p:spPr>
          <a:xfrm>
            <a:off x="16206887" y="4953000"/>
            <a:ext cx="1528663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6130687" y="4591050"/>
            <a:ext cx="16048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7,84% </a:t>
            </a:r>
            <a:r>
              <a:rPr lang="en-US" sz="1425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(alvo 12%)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1449050" y="5181600"/>
            <a:ext cx="647509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OUT-OF-SAMPLE · 2021–2025 </a:t>
            </a:r>
            <a:r>
              <a:rPr lang="en-US" sz="142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Direções congeladas em 2020: </a:t>
            </a: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+3,91%/ano </a:t>
            </a:r>
            <a:r>
              <a:rPr lang="en-US" sz="142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0,50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11449050" y="5819775"/>
            <a:ext cx="622935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1449050" y="5981700"/>
            <a:ext cx="68522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150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CRÍTICA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1449050" y="6400800"/>
            <a:ext cx="57150" cy="852091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1658600" y="6400800"/>
            <a:ext cx="662178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forte — alfa descorrelacionado</a:t>
            </a:r>
            <a:endParaRPr lang="en-US" sz="1575" dirty="0"/>
          </a:p>
        </p:txBody>
      </p:sp>
      <p:sp>
        <p:nvSpPr>
          <p:cNvPr id="51" name="Text 48"/>
          <p:cNvSpPr/>
          <p:nvPr/>
        </p:nvSpPr>
        <p:spPr>
          <a:xfrm>
            <a:off x="11658600" y="6692900"/>
            <a:ext cx="620039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</a:t>
            </a:r>
            <a:r>
              <a:rPr lang="en-US" sz="157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−0,01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fonte de retorno independente do Ibovespa.</a:t>
            </a:r>
            <a:endParaRPr lang="en-US" sz="1575" dirty="0"/>
          </a:p>
        </p:txBody>
      </p:sp>
      <p:sp>
        <p:nvSpPr>
          <p:cNvPr id="52" name="Shape 49"/>
          <p:cNvSpPr/>
          <p:nvPr/>
        </p:nvSpPr>
        <p:spPr>
          <a:xfrm>
            <a:off x="11449050" y="7481491"/>
            <a:ext cx="57150" cy="852091"/>
          </a:xfrm>
          <a:prstGeom prst="rect">
            <a:avLst/>
          </a:prstGeom>
          <a:solidFill>
            <a:srgbClr val="5C7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11658600" y="7481491"/>
            <a:ext cx="662178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fraco — Sharpe 0,36 é modesto</a:t>
            </a:r>
            <a:endParaRPr lang="en-US" sz="1575" dirty="0"/>
          </a:p>
        </p:txBody>
      </p:sp>
      <p:sp>
        <p:nvSpPr>
          <p:cNvPr id="54" name="Text 51"/>
          <p:cNvSpPr/>
          <p:nvPr/>
        </p:nvSpPr>
        <p:spPr>
          <a:xfrm>
            <a:off x="11658600" y="7773591"/>
            <a:ext cx="620039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</a:t>
            </a:r>
            <a:r>
              <a:rPr lang="en-US" sz="157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≈ IC × √breadth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teto está travado pelo número de apostas (58 elos), não pela qualidade do sinal.</a:t>
            </a:r>
            <a:endParaRPr lang="en-US" sz="1575" dirty="0"/>
          </a:p>
        </p:txBody>
      </p:sp>
      <p:sp>
        <p:nvSpPr>
          <p:cNvPr id="55" name="Shape 52"/>
          <p:cNvSpPr/>
          <p:nvPr/>
        </p:nvSpPr>
        <p:spPr>
          <a:xfrm>
            <a:off x="609600" y="8991600"/>
            <a:ext cx="17068800" cy="9144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35945" y="9086850"/>
            <a:ext cx="170688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 limpo (líquido de custos), executável (travas de liquidez reais), descorrelacionado e sobrevivente a um out-of-sample que derrubou os próprios números de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o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alto,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porém</a:t>
            </a:r>
            <a:r>
              <a:rPr lang="en-US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r>
              <a:rPr lang="en-US" dirty="0" err="1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confiável</a:t>
            </a:r>
            <a:endParaRPr lang="en-US" dirty="0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B483FC54-E1B2-873E-9F74-F808235F285D}"/>
              </a:ext>
            </a:extLst>
          </p:cNvPr>
          <p:cNvSpPr txBox="1"/>
          <p:nvPr/>
        </p:nvSpPr>
        <p:spPr>
          <a:xfrm>
            <a:off x="609600" y="406539"/>
            <a:ext cx="130291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DE RESULTADOS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51846" y="377727"/>
            <a:ext cx="18775680" cy="926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A IA FOI USADA NO PROJETO</a:t>
            </a:r>
          </a:p>
          <a:p>
            <a:pPr marL="0" indent="0" algn="l">
              <a:lnSpc>
                <a:spcPct val="100000"/>
              </a:lnSpc>
              <a:buNone/>
            </a:pPr>
            <a:endParaRPr lang="pt-BR" sz="4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9719" y="2052387"/>
            <a:ext cx="5216922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19" y="1576137"/>
            <a:ext cx="27751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364"/>
              </a:lnSpc>
              <a:buNone/>
            </a:pPr>
            <a:r>
              <a:rPr lang="en-US" sz="285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64578" y="1505519"/>
            <a:ext cx="6095138" cy="57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2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ENTREGOU VALOR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9719" y="2261937"/>
            <a:ext cx="537343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~5.400 linhas de pipeline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 fases) em pareamento com Claude Code, com domínio da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003" y="3069447"/>
            <a:ext cx="537343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 do grafo (SINAPSE-IA):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lê documentos da CVM e extrai os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elos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econômicos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6127" y="4125223"/>
            <a:ext cx="5216922" cy="2449523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6127" y="4125223"/>
            <a:ext cx="45719" cy="2449523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6251" y="4349249"/>
            <a:ext cx="4933346" cy="1170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Questionar a IA sobre um resultado incoerente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("Sharpe −1,40 com retorno positivo?")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revelou 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bugs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Com as </a:t>
            </a:r>
            <a:r>
              <a:rPr lang="en-US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modificações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alfa saltou: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0590" y="5666832"/>
            <a:ext cx="14804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7D9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+11,6%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656134" y="5739455"/>
            <a:ext cx="3619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073135" y="5682420"/>
            <a:ext cx="222133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16"/>
              </a:lnSpc>
              <a:buNone/>
            </a:pPr>
            <a:r>
              <a:rPr lang="en-US" sz="465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+27,9%</a:t>
            </a:r>
            <a:endParaRPr lang="en-US" sz="4650" dirty="0"/>
          </a:p>
        </p:txBody>
      </p:sp>
      <p:sp>
        <p:nvSpPr>
          <p:cNvPr id="21" name="Text 19"/>
          <p:cNvSpPr/>
          <p:nvPr/>
        </p:nvSpPr>
        <p:spPr>
          <a:xfrm>
            <a:off x="5997380" y="4493863"/>
            <a:ext cx="1840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441"/>
              </a:lnSpc>
              <a:buNone/>
            </a:pPr>
            <a:r>
              <a:rPr lang="en-US" sz="255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359091" y="2052387"/>
            <a:ext cx="5216922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9091" y="1576137"/>
            <a:ext cx="27751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364"/>
              </a:lnSpc>
              <a:buNone/>
            </a:pPr>
            <a:r>
              <a:rPr lang="en-US" sz="285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826718" y="1538037"/>
            <a:ext cx="4232345" cy="6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2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MOSTROU O LIMITE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413612" y="2320524"/>
            <a:ext cx="5216922" cy="3081055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81431" y="2431511"/>
            <a:ext cx="523569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≈ IC × </a:t>
            </a:r>
            <a:r>
              <a:rPr lang="en-US" sz="280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√breadth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553689" y="3010756"/>
            <a:ext cx="24921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57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· QUALIDADE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53689" y="3577744"/>
            <a:ext cx="2265561" cy="1333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6553689" y="3577744"/>
            <a:ext cx="1767086" cy="133350"/>
          </a:xfrm>
          <a:prstGeom prst="rect">
            <a:avLst/>
          </a:prstGeom>
          <a:solidFill>
            <a:srgbClr val="7D94C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553689" y="3806344"/>
            <a:ext cx="24921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sinal é bom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074460" y="3011869"/>
            <a:ext cx="2713857" cy="463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57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· APOSTAS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47850" y="3577744"/>
            <a:ext cx="2265561" cy="1333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9047850" y="3577744"/>
            <a:ext cx="588963" cy="1333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9047850" y="3806344"/>
            <a:ext cx="24921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58 elos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62080" y="4380370"/>
            <a:ext cx="4902514" cy="1040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Sharpe não está travado pela qualidade do sinal, e sim pelo número de apostas.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12128464" y="4074663"/>
            <a:ext cx="107851" cy="476250"/>
          </a:xfrm>
          <a:prstGeom prst="rect">
            <a:avLst/>
          </a:prstGeom>
          <a:solidFill>
            <a:srgbClr val="0A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2128464" y="2052387"/>
            <a:ext cx="5530057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128464" y="1576137"/>
            <a:ext cx="27751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364"/>
              </a:lnSpc>
              <a:buNone/>
            </a:pPr>
            <a:r>
              <a:rPr lang="en-US" sz="2850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0" dirty="0"/>
          </a:p>
        </p:txBody>
      </p:sp>
      <p:sp>
        <p:nvSpPr>
          <p:cNvPr id="44" name="Text 42"/>
          <p:cNvSpPr/>
          <p:nvPr/>
        </p:nvSpPr>
        <p:spPr>
          <a:xfrm>
            <a:off x="12566154" y="1506678"/>
            <a:ext cx="4604742" cy="730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22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VAI ROMPER O LIMITE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2128464" y="2242887"/>
            <a:ext cx="5695958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Expandir o grafo (maior impacto) </a:t>
            </a:r>
            <a:r>
              <a:rPr lang="en-US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rodar a SINAPSE-IA completa nos 10 anos. A infraestrutura já existe e está validada; falta só orçamento de API.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2151169" y="3316632"/>
            <a:ext cx="1350169" cy="2921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255944" y="3364257"/>
            <a:ext cx="1216819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76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3733628" y="3304107"/>
            <a:ext cx="4618592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8E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por IR ≈ IC × √breadth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2151169" y="4129432"/>
            <a:ext cx="553005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2151169" y="3846857"/>
            <a:ext cx="6185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49" dirty="0">
                <a:solidFill>
                  <a:srgbClr val="7D9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ELOS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4213331" y="3846857"/>
            <a:ext cx="381468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49" dirty="0">
                <a:solidFill>
                  <a:srgbClr val="7D9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PROJETADO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2151169" y="4650132"/>
            <a:ext cx="553005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2151169" y="4281832"/>
            <a:ext cx="86568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(hoje)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5776224" y="4342157"/>
            <a:ext cx="533400" cy="114300"/>
          </a:xfrm>
          <a:prstGeom prst="rect">
            <a:avLst/>
          </a:prstGeom>
          <a:solidFill>
            <a:srgbClr val="5C7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6319149" y="4281832"/>
            <a:ext cx="13620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+8,7%/ano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12151169" y="5170832"/>
            <a:ext cx="553005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2151169" y="4802532"/>
            <a:ext cx="409972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15185674" y="4862857"/>
            <a:ext cx="1123950" cy="1143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6323913" y="4783482"/>
            <a:ext cx="13620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+18%/ano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12151169" y="5323232"/>
            <a:ext cx="409972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4690374" y="5383557"/>
            <a:ext cx="1619250" cy="1143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6319149" y="5323232"/>
            <a:ext cx="13620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+26%/ano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12151167" y="5869531"/>
            <a:ext cx="5530057" cy="19050"/>
          </a:xfrm>
          <a:prstGeom prst="rect">
            <a:avLst/>
          </a:prstGeom>
          <a:solidFill>
            <a:srgbClr val="2C42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2128465" y="6029476"/>
            <a:ext cx="5899550" cy="82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ECO: </a:t>
            </a:r>
            <a:r>
              <a:rPr lang="pt-BR" sz="2200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usar IA todo dia para ler as notícias/fatos relevantes de uma empresa que sofreu um choque de preço forte e decidir se é informação real ou ruído de mercado</a:t>
            </a:r>
            <a:endParaRPr lang="en-US" sz="2200" dirty="0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890365E5-1152-699F-1071-B4D89288D748}"/>
              </a:ext>
            </a:extLst>
          </p:cNvPr>
          <p:cNvSpPr/>
          <p:nvPr/>
        </p:nvSpPr>
        <p:spPr>
          <a:xfrm>
            <a:off x="984459" y="7232006"/>
            <a:ext cx="18775680" cy="926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4000" b="1" dirty="0">
                <a:solidFill>
                  <a:srgbClr val="0A1B3D"/>
                </a:solidFill>
              </a:rPr>
              <a:t>Conclusão</a:t>
            </a:r>
            <a:endParaRPr lang="en-US" sz="4000" b="1" dirty="0">
              <a:solidFill>
                <a:srgbClr val="0A1B3D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96286" y="7630967"/>
            <a:ext cx="16395934" cy="45719"/>
          </a:xfrm>
          <a:prstGeom prst="rect">
            <a:avLst/>
          </a:prstGeom>
          <a:solidFill>
            <a:srgbClr val="0A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7DF5A66E-BB2C-83D9-958B-9232EBA0A122}"/>
              </a:ext>
            </a:extLst>
          </p:cNvPr>
          <p:cNvSpPr txBox="1"/>
          <p:nvPr/>
        </p:nvSpPr>
        <p:spPr>
          <a:xfrm>
            <a:off x="628986" y="7056922"/>
            <a:ext cx="16322041" cy="521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73745"/>
              </a:lnSpc>
              <a:buNone/>
            </a:pPr>
            <a:r>
              <a:rPr lang="pt-BR" sz="3600" b="1" dirty="0">
                <a:solidFill>
                  <a:schemeClr val="accent2"/>
                </a:solidFill>
              </a:rPr>
              <a:t>CONCLUSÃO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D34B4AE2-3D31-0AFF-F1A9-423576E0E7C3}"/>
              </a:ext>
            </a:extLst>
          </p:cNvPr>
          <p:cNvSpPr/>
          <p:nvPr/>
        </p:nvSpPr>
        <p:spPr>
          <a:xfrm>
            <a:off x="-1672" y="6854575"/>
            <a:ext cx="18288000" cy="46261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C5E029BF-DC8E-5D78-69C0-6E0D813E8887}"/>
              </a:ext>
            </a:extLst>
          </p:cNvPr>
          <p:cNvSpPr/>
          <p:nvPr/>
        </p:nvSpPr>
        <p:spPr>
          <a:xfrm>
            <a:off x="589719" y="1115068"/>
            <a:ext cx="17068800" cy="1905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66">
            <a:extLst>
              <a:ext uri="{FF2B5EF4-FFF2-40B4-BE49-F238E27FC236}">
                <a16:creationId xmlns:a16="http://schemas.microsoft.com/office/drawing/2014/main" id="{C87281E5-D935-5F80-9230-5D5CAB992A9A}"/>
              </a:ext>
            </a:extLst>
          </p:cNvPr>
          <p:cNvSpPr/>
          <p:nvPr/>
        </p:nvSpPr>
        <p:spPr>
          <a:xfrm>
            <a:off x="651846" y="7642099"/>
            <a:ext cx="4124325" cy="2262188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67">
            <a:extLst>
              <a:ext uri="{FF2B5EF4-FFF2-40B4-BE49-F238E27FC236}">
                <a16:creationId xmlns:a16="http://schemas.microsoft.com/office/drawing/2014/main" id="{87F16503-ABA1-0EA8-CAFE-A9D3DF848710}"/>
              </a:ext>
            </a:extLst>
          </p:cNvPr>
          <p:cNvSpPr/>
          <p:nvPr/>
        </p:nvSpPr>
        <p:spPr>
          <a:xfrm>
            <a:off x="651846" y="7642099"/>
            <a:ext cx="4124325" cy="254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8">
            <a:extLst>
              <a:ext uri="{FF2B5EF4-FFF2-40B4-BE49-F238E27FC236}">
                <a16:creationId xmlns:a16="http://schemas.microsoft.com/office/drawing/2014/main" id="{D8DEA65C-2C52-80FA-E4B7-9E403CABD6CA}"/>
              </a:ext>
            </a:extLst>
          </p:cNvPr>
          <p:cNvSpPr/>
          <p:nvPr/>
        </p:nvSpPr>
        <p:spPr>
          <a:xfrm>
            <a:off x="842346" y="7838949"/>
            <a:ext cx="411765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hipótese se sustentou</a:t>
            </a:r>
            <a:endParaRPr lang="en-US" sz="2025" dirty="0"/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5A085589-55AE-EF63-4D69-05D521D2E0FD}"/>
              </a:ext>
            </a:extLst>
          </p:cNvPr>
          <p:cNvSpPr/>
          <p:nvPr/>
        </p:nvSpPr>
        <p:spPr>
          <a:xfrm>
            <a:off x="842346" y="8232649"/>
            <a:ext cx="3855625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 de Cohen-Frazzini funciona no Brasil: empresas ligadas repreciam com atraso, e a assimetria </a:t>
            </a:r>
            <a:r>
              <a:rPr lang="en-US" sz="157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grande→pequena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que o efeito é </a:t>
            </a:r>
            <a:r>
              <a:rPr lang="en-US" sz="157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7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escassa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84" name="Shape 70">
            <a:extLst>
              <a:ext uri="{FF2B5EF4-FFF2-40B4-BE49-F238E27FC236}">
                <a16:creationId xmlns:a16="http://schemas.microsoft.com/office/drawing/2014/main" id="{54CA4743-E524-8EEB-CEB4-A534DFB4D153}"/>
              </a:ext>
            </a:extLst>
          </p:cNvPr>
          <p:cNvSpPr/>
          <p:nvPr/>
        </p:nvSpPr>
        <p:spPr>
          <a:xfrm>
            <a:off x="4966671" y="7642099"/>
            <a:ext cx="4124325" cy="2262188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1">
            <a:extLst>
              <a:ext uri="{FF2B5EF4-FFF2-40B4-BE49-F238E27FC236}">
                <a16:creationId xmlns:a16="http://schemas.microsoft.com/office/drawing/2014/main" id="{1898BBD3-1102-2CD3-8E07-5E1B71E8346E}"/>
              </a:ext>
            </a:extLst>
          </p:cNvPr>
          <p:cNvSpPr/>
          <p:nvPr/>
        </p:nvSpPr>
        <p:spPr>
          <a:xfrm>
            <a:off x="4966671" y="7642099"/>
            <a:ext cx="4124325" cy="254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2">
            <a:extLst>
              <a:ext uri="{FF2B5EF4-FFF2-40B4-BE49-F238E27FC236}">
                <a16:creationId xmlns:a16="http://schemas.microsoft.com/office/drawing/2014/main" id="{9E5E393A-A03D-1FA4-AD34-43679AF0101A}"/>
              </a:ext>
            </a:extLst>
          </p:cNvPr>
          <p:cNvSpPr/>
          <p:nvPr/>
        </p:nvSpPr>
        <p:spPr>
          <a:xfrm>
            <a:off x="5157171" y="7838949"/>
            <a:ext cx="411765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alfa é real</a:t>
            </a:r>
            <a:endParaRPr lang="en-US" sz="2025" dirty="0"/>
          </a:p>
        </p:txBody>
      </p:sp>
      <p:sp>
        <p:nvSpPr>
          <p:cNvPr id="87" name="Text 73">
            <a:extLst>
              <a:ext uri="{FF2B5EF4-FFF2-40B4-BE49-F238E27FC236}">
                <a16:creationId xmlns:a16="http://schemas.microsoft.com/office/drawing/2014/main" id="{86C17D7D-E25E-5DED-1BDC-70A388E00BA1}"/>
              </a:ext>
            </a:extLst>
          </p:cNvPr>
          <p:cNvSpPr/>
          <p:nvPr/>
        </p:nvSpPr>
        <p:spPr>
          <a:xfrm>
            <a:off x="5157171" y="8232649"/>
            <a:ext cx="3855625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b="1" dirty="0">
                <a:solidFill>
                  <a:srgbClr val="FF7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+27,9%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acumulado, descorrelacionado do Ibovespa </a:t>
            </a:r>
            <a:r>
              <a:rPr lang="en-US" sz="157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(−0,01)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sobrevivente ao out-of-sample. Não é o maior </a:t>
            </a:r>
            <a:r>
              <a:rPr lang="en-US" sz="157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7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porém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um dos mais limpos: independente do mercado e líquido de custos.</a:t>
            </a:r>
            <a:endParaRPr lang="en-US" sz="1575" dirty="0"/>
          </a:p>
        </p:txBody>
      </p:sp>
      <p:sp>
        <p:nvSpPr>
          <p:cNvPr id="88" name="Shape 74">
            <a:extLst>
              <a:ext uri="{FF2B5EF4-FFF2-40B4-BE49-F238E27FC236}">
                <a16:creationId xmlns:a16="http://schemas.microsoft.com/office/drawing/2014/main" id="{6E8A7C78-CBD0-5748-12DB-361B3DB7861D}"/>
              </a:ext>
            </a:extLst>
          </p:cNvPr>
          <p:cNvSpPr/>
          <p:nvPr/>
        </p:nvSpPr>
        <p:spPr>
          <a:xfrm>
            <a:off x="9281496" y="7642099"/>
            <a:ext cx="4124325" cy="2262188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75">
            <a:extLst>
              <a:ext uri="{FF2B5EF4-FFF2-40B4-BE49-F238E27FC236}">
                <a16:creationId xmlns:a16="http://schemas.microsoft.com/office/drawing/2014/main" id="{63DBD827-5F26-A938-044B-2AABEF030637}"/>
              </a:ext>
            </a:extLst>
          </p:cNvPr>
          <p:cNvSpPr/>
          <p:nvPr/>
        </p:nvSpPr>
        <p:spPr>
          <a:xfrm>
            <a:off x="9281496" y="7642099"/>
            <a:ext cx="4124325" cy="254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76">
            <a:extLst>
              <a:ext uri="{FF2B5EF4-FFF2-40B4-BE49-F238E27FC236}">
                <a16:creationId xmlns:a16="http://schemas.microsoft.com/office/drawing/2014/main" id="{239AE869-8188-7C1A-C122-6516210F14C3}"/>
              </a:ext>
            </a:extLst>
          </p:cNvPr>
          <p:cNvSpPr/>
          <p:nvPr/>
        </p:nvSpPr>
        <p:spPr>
          <a:xfrm>
            <a:off x="9471996" y="7838949"/>
            <a:ext cx="411765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viável na prática</a:t>
            </a:r>
            <a:endParaRPr lang="en-US" sz="2025" dirty="0"/>
          </a:p>
        </p:txBody>
      </p:sp>
      <p:sp>
        <p:nvSpPr>
          <p:cNvPr id="91" name="Text 77">
            <a:extLst>
              <a:ext uri="{FF2B5EF4-FFF2-40B4-BE49-F238E27FC236}">
                <a16:creationId xmlns:a16="http://schemas.microsoft.com/office/drawing/2014/main" id="{E0C10AE8-D496-0FA1-E1AF-25957265613C}"/>
              </a:ext>
            </a:extLst>
          </p:cNvPr>
          <p:cNvSpPr/>
          <p:nvPr/>
        </p:nvSpPr>
        <p:spPr>
          <a:xfrm>
            <a:off x="9471996" y="8232649"/>
            <a:ext cx="385562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Testada em capacidade </a:t>
            </a:r>
            <a:r>
              <a:rPr lang="en-US" sz="157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(AUM R$20M / R$100M / R$300M)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travas de </a:t>
            </a:r>
            <a:r>
              <a:rPr lang="en-US" sz="157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reais.</a:t>
            </a:r>
            <a:endParaRPr lang="en-US" sz="1575" dirty="0"/>
          </a:p>
        </p:txBody>
      </p:sp>
      <p:sp>
        <p:nvSpPr>
          <p:cNvPr id="92" name="Shape 78">
            <a:extLst>
              <a:ext uri="{FF2B5EF4-FFF2-40B4-BE49-F238E27FC236}">
                <a16:creationId xmlns:a16="http://schemas.microsoft.com/office/drawing/2014/main" id="{84B7C0EE-3EA8-F277-9F79-52680E8EBF96}"/>
              </a:ext>
            </a:extLst>
          </p:cNvPr>
          <p:cNvSpPr/>
          <p:nvPr/>
        </p:nvSpPr>
        <p:spPr>
          <a:xfrm>
            <a:off x="13596321" y="7642099"/>
            <a:ext cx="4124325" cy="2262188"/>
          </a:xfrm>
          <a:prstGeom prst="rect">
            <a:avLst/>
          </a:prstGeom>
          <a:solidFill>
            <a:srgbClr val="0E2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79">
            <a:extLst>
              <a:ext uri="{FF2B5EF4-FFF2-40B4-BE49-F238E27FC236}">
                <a16:creationId xmlns:a16="http://schemas.microsoft.com/office/drawing/2014/main" id="{95A708FB-D3BE-C767-1344-5E9EAD967E2B}"/>
              </a:ext>
            </a:extLst>
          </p:cNvPr>
          <p:cNvSpPr/>
          <p:nvPr/>
        </p:nvSpPr>
        <p:spPr>
          <a:xfrm>
            <a:off x="13596321" y="7642099"/>
            <a:ext cx="4124325" cy="25400"/>
          </a:xfrm>
          <a:prstGeom prst="rect">
            <a:avLst/>
          </a:prstGeom>
          <a:solidFill>
            <a:srgbClr val="FF7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0">
            <a:extLst>
              <a:ext uri="{FF2B5EF4-FFF2-40B4-BE49-F238E27FC236}">
                <a16:creationId xmlns:a16="http://schemas.microsoft.com/office/drawing/2014/main" id="{C5500CE2-80CB-2E2F-DF72-CB2724DD6C8E}"/>
              </a:ext>
            </a:extLst>
          </p:cNvPr>
          <p:cNvSpPr/>
          <p:nvPr/>
        </p:nvSpPr>
        <p:spPr>
          <a:xfrm>
            <a:off x="13786821" y="7838949"/>
            <a:ext cx="385562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limite é </a:t>
            </a:r>
            <a:r>
              <a:rPr lang="en-US" sz="2025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conhecido</a:t>
            </a:r>
            <a:endParaRPr lang="en-US" sz="2025" dirty="0"/>
          </a:p>
        </p:txBody>
      </p:sp>
      <p:sp>
        <p:nvSpPr>
          <p:cNvPr id="95" name="Text 81">
            <a:extLst>
              <a:ext uri="{FF2B5EF4-FFF2-40B4-BE49-F238E27FC236}">
                <a16:creationId xmlns:a16="http://schemas.microsoft.com/office/drawing/2014/main" id="{A2DEE770-F785-C371-1BCC-74E95FD7B4C8}"/>
              </a:ext>
            </a:extLst>
          </p:cNvPr>
          <p:cNvSpPr/>
          <p:nvPr/>
        </p:nvSpPr>
        <p:spPr>
          <a:xfrm>
            <a:off x="13786821" y="8531099"/>
            <a:ext cx="3855625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1575" dirty="0" err="1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escala do grafo </a:t>
            </a:r>
            <a:r>
              <a:rPr lang="en-US" sz="1575" b="1" dirty="0">
                <a:solidFill>
                  <a:srgbClr val="FFB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(breadth) </a:t>
            </a:r>
            <a:r>
              <a:rPr lang="en-US" sz="1575" dirty="0">
                <a:solidFill>
                  <a:srgbClr val="D5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solução já construída e validada.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5655</TotalTime>
  <Words>1762</Words>
  <Application>Microsoft Office PowerPoint</Application>
  <PresentationFormat>Personalizar</PresentationFormat>
  <Paragraphs>156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João Souza</cp:lastModifiedBy>
  <cp:revision>29</cp:revision>
  <dcterms:created xsi:type="dcterms:W3CDTF">2026-08-12T01:06:51Z</dcterms:created>
  <dcterms:modified xsi:type="dcterms:W3CDTF">2026-08-16T21:52:51Z</dcterms:modified>
</cp:coreProperties>
</file>