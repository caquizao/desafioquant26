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71541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7A29"/>
                </a:solidFill>
                <a:latin typeface="Arial"/>
              </a:rPr>
              <a:t>SINAPSE</a:t>
            </a:r>
            <a:r>
              <a:rPr sz="3200" b="1" i="0">
                <a:solidFill>
                  <a:srgbClr val="FFFFFF"/>
                </a:solidFill>
                <a:latin typeface="Arial"/>
              </a:rPr>
              <a:t>: operando o atraso da difusão de informação na B3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A HIPÓTESE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5E0F4"/>
                </a:solidFill>
                <a:latin typeface="Arial"/>
              </a:rPr>
              <a:t>Choque de preço numa ação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muito líquida</a:t>
            </a:r>
            <a:r>
              <a:rPr sz="1300" b="0" i="0">
                <a:solidFill>
                  <a:srgbClr val="D5E0F4"/>
                </a:solidFill>
                <a:latin typeface="Arial"/>
              </a:rPr>
              <a:t> carrega informação sobre o ramo dela. As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menos líquidas do mesmo subsetor</a:t>
            </a:r>
            <a:r>
              <a:rPr sz="1300" b="0" i="0">
                <a:solidFill>
                  <a:srgbClr val="D5E0F4"/>
                </a:solidFill>
                <a:latin typeface="Arial"/>
              </a:rPr>
              <a:t> levam </a:t>
            </a:r>
            <a:r>
              <a:rPr sz="1300" b="1" i="0">
                <a:solidFill>
                  <a:srgbClr val="FFB078"/>
                </a:solidFill>
                <a:latin typeface="Arial"/>
              </a:rPr>
              <a:t>meses</a:t>
            </a:r>
            <a:r>
              <a:rPr sz="1300" b="0" i="0">
                <a:solidFill>
                  <a:srgbClr val="D5E0F4"/>
                </a:solidFill>
                <a:latin typeface="Arial"/>
              </a:rPr>
              <a:t> para reprecificar.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300" b="0" i="0">
                <a:solidFill>
                  <a:srgbClr val="D5E0F4"/>
                </a:solidFill>
                <a:latin typeface="Arial"/>
              </a:rPr>
              <a:t>Difusão lenta, não atraso de um dia: é isso que dá tempo de montar a posição.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9417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POR QUE A INEFICIÊNCIA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41648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7A29"/>
                </a:solidFill>
                <a:latin typeface="Arial"/>
              </a:rPr>
              <a:t>Atenção é escassa.</a:t>
            </a:r>
            <a:r>
              <a:rPr sz="1300" b="0" i="0">
                <a:solidFill>
                  <a:srgbClr val="D5E0F4"/>
                </a:solidFill>
                <a:latin typeface="Arial"/>
              </a:rPr>
              <a:t> Quem cobre a líquida do ramo não acompanha as menores na mesma velocidade.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193792"/>
            <a:ext cx="5303520" cy="1005840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358384"/>
            <a:ext cx="482803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líquida  →  menos líquida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Só nesse sentido. Nos dois, seria movimento setorial, não falta de atenção.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O QUE A ESTRATÉGIA FAZ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82142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A29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6821424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Mede o choque próprio da ação líquida.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333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A29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733348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Propaga para as menores do mesmo subsetor.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78455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A29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7845552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Compra as positivas, vende as negativas: beta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481328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A EVIDÊNCIA DE QUE É DIFUSÃO, NÃO RUÍDO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82880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Se o efeito durasse um dia, alongar o horizonte o diluiria. Medimos o contrário: o poder preditivo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cresce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com o horizonte.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432304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IC: correlação entre o sinal de hoje e o retorno futuro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7432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T+1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6016" y="2770632"/>
            <a:ext cx="687798" cy="20116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3542" y="27432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+0,0076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2004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T+21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86016" y="3227832"/>
            <a:ext cx="2036244" cy="20116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1988" y="32004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+0,0225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6576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T+63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6016" y="3685032"/>
            <a:ext cx="3248940" cy="20116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44684" y="36576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+0,0359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1148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T+126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86016" y="4142232"/>
            <a:ext cx="3520439" cy="20116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16183" y="41148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+0,0389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4754880"/>
            <a:ext cx="5760720" cy="1572768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937760"/>
            <a:ext cx="5285231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120">
                <a:solidFill>
                  <a:srgbClr val="FF7A29"/>
                </a:solidFill>
                <a:latin typeface="Arial"/>
              </a:rPr>
              <a:t>A assinatura de difusão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Normalizado pelo horizonte, o poder preditivo cai </a:t>
            </a:r>
            <a:r>
              <a:rPr sz="1150" b="1" i="0">
                <a:solidFill>
                  <a:srgbClr val="FFB078"/>
                </a:solidFill>
                <a:latin typeface="Arial"/>
              </a:rPr>
              <a:t>45%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de T+1 a T+126. Um efeito de um único dia cairia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91%</a:t>
            </a:r>
            <a:r>
              <a:rPr sz="1150" b="0" i="0">
                <a:solidFill>
                  <a:srgbClr val="D5E0F4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1" i="0">
                <a:solidFill>
                  <a:srgbClr val="FFFFFF"/>
                </a:solidFill>
                <a:latin typeface="Arial"/>
              </a:rPr>
              <a:t>Difusão lenta, não choque instantâneo.</a:t>
            </a:r>
          </a:p>
        </p:txBody>
      </p:sp>
      <p:pic>
        <p:nvPicPr>
          <p:cNvPr id="35" name="Picture 3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176" y="1444752"/>
            <a:ext cx="1938528" cy="470994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179808" y="6355861"/>
            <a:ext cx="5541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POR QUE “SINAPSE”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79808" y="6703333"/>
            <a:ext cx="554126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O cérebro pensa pelas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conexões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, não pelos neurônios isolados. Numa sinapse o impulso só cruza se vence um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limiar</a:t>
            </a:r>
            <a:r>
              <a:rPr sz="1250" b="0" i="0">
                <a:solidFill>
                  <a:srgbClr val="D5E0F4"/>
                </a:solidFill>
                <a:latin typeface="Arial"/>
              </a:rPr>
              <a:t>, e leva um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instante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para chegar.</a:t>
            </a: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250" b="0" i="0">
                <a:solidFill>
                  <a:srgbClr val="D5E0F4"/>
                </a:solidFill>
                <a:latin typeface="Arial"/>
              </a:rPr>
              <a:t>É aí que a estratégia opera: no mapa de quem dispara quem, e no atraso até o mercado reprecificar.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8321040"/>
            <a:ext cx="17154144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543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ações regredidas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5952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~1.640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pares no grafo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4976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134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nomes na carteira/dia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16,1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apostas independentes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03024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−0,005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beta contra o Ibovespa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62048" y="8558784"/>
            <a:ext cx="2584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7A29"/>
                </a:solidFill>
                <a:latin typeface="Arial"/>
              </a:rPr>
              <a:t>2.140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8EA4CF"/>
                </a:solidFill>
                <a:latin typeface="Arial"/>
              </a:rPr>
              <a:t>pregões de teste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9656064"/>
            <a:ext cx="17154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Base teórica sobre difusão lenta de informação entre empresas relacionadas: </a:t>
            </a:r>
            <a:r>
              <a:rPr sz="1100" b="0" i="1">
                <a:solidFill>
                  <a:srgbClr val="8EA4CF"/>
                </a:solidFill>
                <a:latin typeface="Arial"/>
              </a:rPr>
              <a:t>Lo &amp; MacKinlay (1990) · Hou (2007) · Cohen &amp; Frazzini (2008).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715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7A29"/>
                </a:solidFill>
                <a:latin typeface="Arial"/>
              </a:rPr>
              <a:t>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715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4CF"/>
                </a:solidFill>
                <a:latin typeface="Arial"/>
              </a:rPr>
              <a:t>De preço bruto a vetor de pesos em cinco etapas: nenhuma com julgamento humano sobre quais empresas se ligam.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5544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FFFFF"/>
                </a:solidFill>
                <a:latin typeface="Arial"/>
              </a:rPr>
              <a:t>UNIVERSO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767328" y="1536192"/>
            <a:ext cx="16459" cy="694944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1517904"/>
            <a:ext cx="689457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543 ações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com ao menos 200 pregões válidos,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point-in-time</a:t>
            </a:r>
            <a:r>
              <a:rPr sz="1250" b="0" i="0">
                <a:solidFill>
                  <a:srgbClr val="D5E0F4"/>
                </a:solidFill>
                <a:latin typeface="Arial"/>
              </a:rPr>
              <a:t>: cada mês usa só o que era negociável então, incluindo as que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quebraram ou saíram da bolsa</a:t>
            </a:r>
            <a:r>
              <a:rPr sz="1250" b="0" i="0">
                <a:solidFill>
                  <a:srgbClr val="D5E0F4"/>
                </a:solidFill>
                <a:latin typeface="Arial"/>
              </a:rPr>
              <a:t>. Sem elas o backtest ficaria otimista.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76856"/>
            <a:ext cx="10332720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50591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FFFFF"/>
                </a:solidFill>
                <a:latin typeface="Arial"/>
              </a:rPr>
              <a:t>CHOQUE LIMPO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2432303"/>
            <a:ext cx="16459" cy="109728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2414015"/>
            <a:ext cx="6894576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spc="60">
                <a:solidFill>
                  <a:srgbClr val="FFB078"/>
                </a:solidFill>
                <a:latin typeface="Arial"/>
              </a:rPr>
              <a:t>retorno = α + β · Ibovespa + ε</a:t>
            </a:r>
            <a:r>
              <a:rPr sz="1150" b="0" i="0">
                <a:solidFill>
                  <a:srgbClr val="8EA4CF"/>
                </a:solidFill>
                <a:latin typeface="Arial"/>
              </a:rPr>
              <a:t>     janela móvel de 252 pregões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1" i="0">
                <a:solidFill>
                  <a:srgbClr val="FFB078"/>
                </a:solidFill>
                <a:latin typeface="Arial"/>
              </a:rPr>
              <a:t>ε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é o que se moveu por causa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da empresa</a:t>
            </a:r>
            <a:r>
              <a:rPr sz="1250" b="0" i="0">
                <a:solidFill>
                  <a:srgbClr val="D5E0F4"/>
                </a:solidFill>
                <a:latin typeface="Arial"/>
              </a:rPr>
              <a:t>, não do mercado. </a:t>
            </a:r>
            <a:r>
              <a:rPr sz="1250" b="1" i="0">
                <a:solidFill>
                  <a:srgbClr val="FF7A29"/>
                </a:solidFill>
                <a:latin typeface="Arial"/>
              </a:rPr>
              <a:t>Removemos o termo setorial</a:t>
            </a:r>
            <a:r>
              <a:rPr sz="1250" b="0" i="0">
                <a:solidFill>
                  <a:srgbClr val="D5E0F4"/>
                </a:solidFill>
                <a:latin typeface="Arial"/>
              </a:rPr>
              <a:t>: ele apagava a informação que queremos ver propagar.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75303"/>
            <a:ext cx="10332720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74903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749039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FFFFF"/>
                </a:solidFill>
                <a:latin typeface="Arial"/>
              </a:rPr>
              <a:t>ACUMULAÇÃO 12-1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3730752"/>
            <a:ext cx="16459" cy="73152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712463"/>
            <a:ext cx="689457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Somamos ε ao longo de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231 pregões (12 meses), ignorando o mês mais recente</a:t>
            </a:r>
            <a:r>
              <a:rPr sz="1250" b="0" i="0">
                <a:solidFill>
                  <a:srgbClr val="D5E0F4"/>
                </a:solidFill>
                <a:latin typeface="Arial"/>
              </a:rPr>
              <a:t>. Não é o choque de ontem que importa; pular o último mês evita reversão de curtíssimo prazo.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507991"/>
            <a:ext cx="10332720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8172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68172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FFFFF"/>
                </a:solidFill>
                <a:latin typeface="Arial"/>
              </a:rPr>
              <a:t>GRAFO MECÂNICO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8" y="4663440"/>
            <a:ext cx="16459" cy="144475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4645151"/>
            <a:ext cx="689457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Em cada subsetor da B3, ordenamos por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ADTV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(volume médio dos 21 pregões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anteriores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). As K mais líquidas viram </a:t>
            </a:r>
            <a:r>
              <a:rPr sz="1250" b="1" i="0">
                <a:solidFill>
                  <a:srgbClr val="FF7A29"/>
                </a:solidFill>
                <a:latin typeface="Arial"/>
              </a:rPr>
              <a:t>cabeças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e mandam sinal para todas as outras do subsetor.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1" i="0">
                <a:solidFill>
                  <a:srgbClr val="FFFFFF"/>
                </a:solidFill>
                <a:latin typeface="Arial"/>
              </a:rPr>
              <a:t>6 variantes somadas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: K ∈ {2, 3, 5} × peso ∈ {igual, ADTV}.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Todas entram, nenhuma escolhida por desempenho.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 ~1.640 pares, refeitos todo mês.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153911"/>
            <a:ext cx="10332720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32764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29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632764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FFFFF"/>
                </a:solidFill>
                <a:latin typeface="Arial"/>
              </a:rPr>
              <a:t>CARTEIRA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7328" y="6309359"/>
            <a:ext cx="16459" cy="73152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6291071"/>
            <a:ext cx="689457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Winsoriza 1%/99% → z-score transversal →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suaviza 63 pregões</a:t>
            </a:r>
            <a:r>
              <a:rPr sz="1250" b="0" i="0">
                <a:solidFill>
                  <a:srgbClr val="D5E0F4"/>
                </a:solidFill>
                <a:latin typeface="Arial"/>
              </a:rPr>
              <a:t> → vol-alvo de 12% a.a. → travas de 5% por nome, 25% por setor e 10% do ADTV → hedge de beta → executa em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T+1</a:t>
            </a:r>
            <a:r>
              <a:rPr sz="1250" b="0" i="0">
                <a:solidFill>
                  <a:srgbClr val="D5E0F4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2568" y="1554480"/>
            <a:ext cx="63185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O GRAFO, EM UM EXEMPLO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2568" y="1883664"/>
            <a:ext cx="63185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Subsetor Siderurgia. O ranking usa apenas volume passado.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02568" y="2487168"/>
            <a:ext cx="1417320" cy="402336"/>
          </a:xfrm>
          <a:prstGeom prst="rect">
            <a:avLst/>
          </a:prstGeom>
          <a:solidFill>
            <a:srgbClr val="112857"/>
          </a:solidFill>
          <a:ln w="15875">
            <a:solidFill>
              <a:srgbClr val="FF7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02568" y="257860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GGBR4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975336" y="2615184"/>
            <a:ext cx="1874519" cy="15544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77872" y="256946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R$ 180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20288" y="2569463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7A29"/>
                </a:solidFill>
                <a:latin typeface="Arial"/>
              </a:rPr>
              <a:t>cabeça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02568" y="3017520"/>
            <a:ext cx="1417320" cy="402336"/>
          </a:xfrm>
          <a:prstGeom prst="rect">
            <a:avLst/>
          </a:prstGeom>
          <a:solidFill>
            <a:srgbClr val="112857"/>
          </a:solidFill>
          <a:ln w="15875">
            <a:solidFill>
              <a:srgbClr val="FF7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02568" y="310896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CSNA3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75336" y="3145536"/>
            <a:ext cx="1249679" cy="155448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977872" y="3099815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R$ 120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20288" y="3099815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7A29"/>
                </a:solidFill>
                <a:latin typeface="Arial"/>
              </a:rPr>
              <a:t>cabeça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02568" y="3547872"/>
            <a:ext cx="1417320" cy="402336"/>
          </a:xfrm>
          <a:prstGeom prst="rect">
            <a:avLst/>
          </a:prstGeom>
          <a:solidFill>
            <a:srgbClr val="112857"/>
          </a:solidFill>
          <a:ln w="15875">
            <a:solidFill>
              <a:srgbClr val="2C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02568" y="363931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USIM5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75336" y="3675887"/>
            <a:ext cx="989329" cy="155448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977872" y="363016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R$ 95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02568" y="4078223"/>
            <a:ext cx="1417320" cy="402336"/>
          </a:xfrm>
          <a:prstGeom prst="rect">
            <a:avLst/>
          </a:prstGeom>
          <a:solidFill>
            <a:srgbClr val="112857"/>
          </a:solidFill>
          <a:ln w="15875">
            <a:solidFill>
              <a:srgbClr val="2C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02568" y="4169663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GOAU4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75336" y="4206239"/>
            <a:ext cx="416560" cy="155448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77872" y="4160519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R$ 40 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02568" y="4608575"/>
            <a:ext cx="1417320" cy="402336"/>
          </a:xfrm>
          <a:prstGeom prst="rect">
            <a:avLst/>
          </a:prstGeom>
          <a:solidFill>
            <a:srgbClr val="112857"/>
          </a:solidFill>
          <a:ln w="15875">
            <a:solidFill>
              <a:srgbClr val="2C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02568" y="4700015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GGBR3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75336" y="4736591"/>
            <a:ext cx="83311" cy="155448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77872" y="469087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R$ 8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02568" y="5303519"/>
            <a:ext cx="6318503" cy="1700784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40312" y="5486399"/>
            <a:ext cx="58430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120">
                <a:solidFill>
                  <a:srgbClr val="FF7A29"/>
                </a:solidFill>
                <a:latin typeface="Arial"/>
              </a:rPr>
              <a:t>Por que isso importa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200" b="0" i="0">
                <a:solidFill>
                  <a:srgbClr val="D5E0F4"/>
                </a:solidFill>
                <a:latin typeface="Arial"/>
              </a:rPr>
              <a:t>A cabeça também RECEBE sinal das outras cabeças, e é isso que cria elos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mútuos</a:t>
            </a:r>
            <a:r>
              <a:rPr sz="1200" b="0" i="0">
                <a:solidFill>
                  <a:srgbClr val="D5E0F4"/>
                </a:solidFill>
                <a:latin typeface="Arial"/>
              </a:rPr>
              <a:t> entre os nomes líquidos: VALE3↔CSNA3, PETR3↔PETR4.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200" b="0" i="0">
                <a:solidFill>
                  <a:srgbClr val="D5E0F4"/>
                </a:solidFill>
                <a:latin typeface="Arial"/>
              </a:rPr>
              <a:t>A regra reproduz </a:t>
            </a:r>
            <a:r>
              <a:rPr sz="1200" b="1" i="0">
                <a:solidFill>
                  <a:srgbClr val="FFB078"/>
                </a:solidFill>
                <a:latin typeface="Arial"/>
              </a:rPr>
              <a:t>38 dos 40 elos (95%)</a:t>
            </a:r>
            <a:r>
              <a:rPr sz="1200" b="0" i="0">
                <a:solidFill>
                  <a:srgbClr val="D5E0F4"/>
                </a:solidFill>
                <a:latin typeface="Arial"/>
              </a:rPr>
              <a:t> que havíamos escrito à mão, sem ler um documento.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7333488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7552944"/>
            <a:ext cx="1715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DISCIPLINA DE PARÂMETROS: POR QUE ISTO NÃO É OVERFITTING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7936992"/>
            <a:ext cx="50292" cy="1773936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7900415"/>
            <a:ext cx="7699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Pré-registrados antes de ver resultado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" y="8229600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Janela da regressão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79468" y="8229600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252 pregões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8631936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Trava por nome / setor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9468" y="8631936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5% do AUM · 25% do gross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" y="9034272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Trava de liquidez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9468" y="9034272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10% do ADTV de 21 dias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" y="9436607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Volatilidade-alvo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9468" y="9436607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12% a.a.: teto, não meta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84080" y="7936992"/>
            <a:ext cx="50292" cy="1773936"/>
          </a:xfrm>
          <a:prstGeom prst="rect">
            <a:avLst/>
          </a:prstGeom>
          <a:solidFill>
            <a:srgbClr val="F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1824" y="7900415"/>
            <a:ext cx="7699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Acrescentados por medição, não por tentativa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21824" y="8229600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Horizonte 12-1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196620" y="8229600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o IC cresce com o horizonte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21824" y="8631936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Choque só-mercado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196620" y="8631936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o termo setorial apagava o sinal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21824" y="9034272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Ensemble de 6 variantes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196620" y="9034272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todas entram, nenhuma por retorno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21824" y="9436607"/>
            <a:ext cx="31747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E0F4"/>
                </a:solidFill>
                <a:latin typeface="Arial"/>
              </a:rPr>
              <a:t>Suavização de 63 pregões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96620" y="9436607"/>
            <a:ext cx="45244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segue o horizonte do sinal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9948672"/>
            <a:ext cx="1715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B078"/>
                </a:solidFill>
                <a:latin typeface="Arial"/>
              </a:rPr>
              <a:t>Nenhum parâmetro foi revisado depois do out-of-sample.</a:t>
            </a:r>
            <a:r>
              <a:rPr sz="1150" b="0" i="0">
                <a:solidFill>
                  <a:srgbClr val="8EA4CF"/>
                </a:solidFill>
                <a:latin typeface="Arial"/>
              </a:rPr>
              <a:t>  As decisões saíram de 2016–2020; 2021–2025 foi medido uma vez.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715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7A29"/>
                </a:solidFill>
                <a:latin typeface="Arial"/>
              </a:rPr>
              <a:t>BACKTEST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715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4CF"/>
                </a:solidFill>
                <a:latin typeface="Arial"/>
              </a:rPr>
              <a:t>2016–2025, AUM de R$ 100 MM, benchmark CDI. O que mais nos custou não foi achar o sinal: foi não se enganar com ele.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8275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1 · O CUSTO É O DIFERENCIAL, E ELE É BRUTAL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8275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A convenção de mercado é 5 bps por unidade de giro: número de large cap líquida. Mas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79% do giro deste book está abaixo de R$ 150 MM de ADTV</a:t>
            </a:r>
            <a:r>
              <a:rPr sz="1250" b="0" i="0">
                <a:solidFill>
                  <a:srgbClr val="D5E0F4"/>
                </a:solidFill>
                <a:latin typeface="Arial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505456"/>
            <a:ext cx="7083900" cy="329184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custo_e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96896"/>
            <a:ext cx="690102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998464"/>
            <a:ext cx="8275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5E0F4"/>
                </a:solidFill>
                <a:latin typeface="Arial"/>
              </a:rPr>
              <a:t>O número que não depende da nossa calibragem: </a:t>
            </a:r>
            <a:r>
              <a:rPr sz="1250" b="1" i="0">
                <a:solidFill>
                  <a:srgbClr val="FFB078"/>
                </a:solidFill>
                <a:latin typeface="Arial"/>
              </a:rPr>
              <a:t>cada unidade de giro gera 68,3 bps de alfa e paga 36,6 bps de custo</a:t>
            </a:r>
            <a:r>
              <a:rPr sz="1250" b="0" i="0">
                <a:solidFill>
                  <a:srgbClr val="D5E0F4"/>
                </a:solidFill>
                <a:latin typeface="Arial"/>
              </a:rPr>
              <a:t>, folga de 1,87×.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0888" y="1554480"/>
            <a:ext cx="8330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2 · COMO EVITAMOS NOS ENGANAR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0888" y="1947672"/>
            <a:ext cx="50292" cy="7223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920240"/>
            <a:ext cx="8092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Protocolo IS / OOS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Decidimos tudo olhando só 2016–2020. Congelamos. Medimos 2021–2025 uma única vez.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0888" y="2788920"/>
            <a:ext cx="50292" cy="7223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2761488"/>
            <a:ext cx="8092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Placebo do gatilho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Embaralhamos 300 vezes qual ação é a cabeça. O resultado não sobrevive: o mecanismo é real (3–5σ).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0888" y="3630168"/>
            <a:ext cx="50292" cy="7223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3602736"/>
            <a:ext cx="8092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Walk-forward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Janela expansiva: em cada data só existe informação daquela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0888" y="4471416"/>
            <a:ext cx="50292" cy="7223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4443983"/>
            <a:ext cx="8092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Sem viés de sobrevivência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O COTAHIST traz quem morreu (Kroton, Cielo, Linx). Testar só nas sobreviventes é trapacear sem querer.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0888" y="5312664"/>
            <a:ext cx="50292" cy="7223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5285231"/>
            <a:ext cx="8092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Anti look-ahead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Sinal de hoje, execução em T+1. Verificado por truncagem: diferença de 2·10⁻¹⁶.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66560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986016"/>
            <a:ext cx="1715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3 · A NEUTRALIDADE DE MERCADO É MEDIDA, NÃO ALEGADA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7333488"/>
            <a:ext cx="5136576" cy="2770631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9_distribuicao_neutr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424928"/>
            <a:ext cx="4953696" cy="25877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50976" y="7388352"/>
            <a:ext cx="4224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A nuvem da direita não tem inclinação: </a:t>
            </a:r>
            <a:r>
              <a:rPr sz="1200" b="1" i="0">
                <a:solidFill>
                  <a:srgbClr val="FFB078"/>
                </a:solidFill>
                <a:latin typeface="Arial"/>
              </a:rPr>
              <a:t>beta −0,005, correlação −0,015</a:t>
            </a:r>
            <a:r>
              <a:rPr sz="1200" b="0" i="0">
                <a:solidFill>
                  <a:srgbClr val="D5E0F4"/>
                </a:solidFill>
                <a:latin typeface="Arial"/>
              </a:rPr>
              <a:t>. Resultado medido, não premissa do modelo.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0976" y="8449056"/>
            <a:ext cx="185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COVID · fev–abr/2020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769" y="8449056"/>
            <a:ext cx="10983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3DD198"/>
                </a:solidFill>
                <a:latin typeface="Arial"/>
              </a:rPr>
              <a:t>+1,4%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2636" y="8449056"/>
            <a:ext cx="11828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Ibovespa −29,6%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0976" y="8750808"/>
            <a:ext cx="4224528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0976" y="8814816"/>
            <a:ext cx="185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Exposição líquida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769" y="8814816"/>
            <a:ext cx="10983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−8% a +14%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2636" y="8814816"/>
            <a:ext cx="11828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90% dos dias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0976" y="9116568"/>
            <a:ext cx="4224528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0976" y="9180576"/>
            <a:ext cx="185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Drawdown máximo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769" y="9180576"/>
            <a:ext cx="10983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3DD198"/>
                </a:solidFill>
                <a:latin typeface="Arial"/>
              </a:rPr>
              <a:t>−8,8%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2636" y="9180576"/>
            <a:ext cx="11828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Ibovespa −46,8%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0976" y="9482328"/>
            <a:ext cx="4224528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05856" y="7333488"/>
            <a:ext cx="6915215" cy="2651760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43600" y="7516368"/>
            <a:ext cx="6439727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120">
                <a:solidFill>
                  <a:srgbClr val="FF7A29"/>
                </a:solidFill>
                <a:latin typeface="Arial"/>
              </a:rPr>
              <a:t>E o que quase nos enganou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Achamos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36 datas fantasma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no calendário: feriados que não são pregão na B3. Elas zeravam a carteira em dias legítimos.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Eram quatro bugs encadeados nas mesmas datas; só a correção da raiz resolveu.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1" i="0">
                <a:solidFill>
                  <a:srgbClr val="FFB078"/>
                </a:solidFill>
                <a:latin typeface="Arial"/>
              </a:rPr>
              <a:t>Publicamos os doze números que tivemos de corrigir</a:t>
            </a:r>
            <a:r>
              <a:rPr sz="1150" b="0" i="0">
                <a:solidFill>
                  <a:srgbClr val="D5E0F4"/>
                </a:solidFill>
                <a:latin typeface="Arial"/>
              </a:rPr>
              <a:t>, inclusive os que pioraram nossa nota.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715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7A29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715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4CF"/>
                </a:solidFill>
                <a:latin typeface="Arial"/>
              </a:rPr>
              <a:t>Período com posição: 19/05/2017 a 30/12/2025 (2.140 pregões). Todo gráfico e toda métrica desta página usam exatamente essa janela.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700784"/>
            <a:ext cx="5989320" cy="3358959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a_retorno_acumulado_5b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2224"/>
            <a:ext cx="5806440" cy="31760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02552" y="1700784"/>
            <a:ext cx="5989320" cy="3360778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b_retorno_acumulado_rea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1792224"/>
            <a:ext cx="5806440" cy="3177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207866"/>
            <a:ext cx="12033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Mesma escala nos dois de propósito. A diferença é </a:t>
            </a:r>
            <a:r>
              <a:rPr sz="1200" b="1" i="0">
                <a:solidFill>
                  <a:srgbClr val="FF7A29"/>
                </a:solidFill>
                <a:latin typeface="Arial"/>
              </a:rPr>
              <a:t>inteiramente modelo de custo</a:t>
            </a:r>
            <a:r>
              <a:rPr sz="1200" b="0" i="0">
                <a:solidFill>
                  <a:srgbClr val="D5E0F4"/>
                </a:solidFill>
                <a:latin typeface="Arial"/>
              </a:rPr>
              <a:t>: mesma carteira, mesmo sinal, mesmo período.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5591914"/>
            <a:ext cx="7543800" cy="4324926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performance_an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83354"/>
            <a:ext cx="7360920" cy="414204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93608" y="5591914"/>
            <a:ext cx="4398264" cy="282647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draw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5683354"/>
            <a:ext cx="4215383" cy="26435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112495" y="1554480"/>
            <a:ext cx="460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AS DUAS LEITURAS, LADO A 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12495" y="1938528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32440" y="1938528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5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30670" y="1938528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realista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12495" y="2185416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12495" y="2249424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Alfa acumulado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32440" y="2249424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+47,3%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30670" y="2249424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+19,6%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112495" y="2496312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12495" y="2560320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Fundo (CDI + alfa)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32440" y="2560320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+200,2%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30670" y="2560320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+143,7%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112495" y="2807208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12495" y="2871215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Excesso sobre o CDI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32440" y="2871215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+96,4%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30670" y="2871215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+40,0%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112495" y="3118103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12495" y="3182111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Sharpe (vs CDI)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32440" y="3182111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0,592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30670" y="3182111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B078"/>
                </a:solidFill>
                <a:latin typeface="Arial"/>
              </a:rPr>
              <a:t>0,296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112495" y="3428999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12495" y="3493007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Volatilidade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32440" y="3493007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8,29%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30670" y="3493007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8,29%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112495" y="3739895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12495" y="3803903"/>
            <a:ext cx="2119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Drawdown máximo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32440" y="3803903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−8,6%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30670" y="3803903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−8,8%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112495" y="4050791"/>
            <a:ext cx="4608576" cy="10972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12495" y="4169663"/>
            <a:ext cx="46085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Referência: Ibovespa </a:t>
            </a:r>
            <a:r>
              <a:rPr sz="1150" b="1" i="0">
                <a:solidFill>
                  <a:srgbClr val="D5E0F4"/>
                </a:solidFill>
                <a:latin typeface="Arial"/>
              </a:rPr>
              <a:t>+161,6%</a:t>
            </a:r>
            <a:r>
              <a:rPr sz="1150" b="0" i="0">
                <a:solidFill>
                  <a:srgbClr val="8EA4CF"/>
                </a:solidFill>
                <a:latin typeface="Arial"/>
              </a:rPr>
              <a:t> com Sharpe </a:t>
            </a:r>
            <a:r>
              <a:rPr sz="1150" b="1" i="0">
                <a:solidFill>
                  <a:srgbClr val="D5E0F4"/>
                </a:solidFill>
                <a:latin typeface="Arial"/>
              </a:rPr>
              <a:t>0,244</a:t>
            </a:r>
            <a:r>
              <a:rPr sz="1150" b="0" i="0">
                <a:solidFill>
                  <a:srgbClr val="8EA4CF"/>
                </a:solidFill>
                <a:latin typeface="Arial"/>
              </a:rPr>
              <a:t> e drawdown de </a:t>
            </a:r>
            <a:r>
              <a:rPr sz="1150" b="1" i="0">
                <a:solidFill>
                  <a:srgbClr val="FF6B6B"/>
                </a:solidFill>
                <a:latin typeface="Arial"/>
              </a:rPr>
              <a:t>−46,8%</a:t>
            </a:r>
            <a:r>
              <a:rPr sz="1150" b="0" i="0">
                <a:solidFill>
                  <a:srgbClr val="8EA4CF"/>
                </a:solidFill>
                <a:latin typeface="Arial"/>
              </a:rPr>
              <a:t>, cinco vezes o nosso. CDI: +103,7%.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12495" y="4901183"/>
            <a:ext cx="460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COMPORTAMENTO POR REGIME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12495" y="5248655"/>
            <a:ext cx="20277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2020 · crash da COVID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40269" y="5248655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3DD198"/>
                </a:solidFill>
                <a:latin typeface="Arial"/>
              </a:rPr>
              <a:t>+13,5%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22842" y="5248655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Ibovespa +2,9%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12495" y="5614416"/>
            <a:ext cx="20277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2021–22 · alta de juros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40269" y="5614416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+9,4% / −5,6%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522842" y="5614416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quebra momentum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112495" y="5980176"/>
            <a:ext cx="20277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Melhor / pior ano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40269" y="5980176"/>
            <a:ext cx="1290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E0F4"/>
                </a:solidFill>
                <a:latin typeface="Arial"/>
              </a:rPr>
              <a:t>+13,5% / −5,8%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522842" y="5980176"/>
            <a:ext cx="1198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4CF"/>
                </a:solidFill>
                <a:latin typeface="Arial"/>
              </a:rPr>
              <a:t>2020 /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12495" y="6437376"/>
            <a:ext cx="460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LEITURA CRÍTICA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112495" y="6812280"/>
            <a:ext cx="50292" cy="850392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350239" y="6784848"/>
            <a:ext cx="4370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Ponto forte: é alfa de verdade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Correlação de −0,015 com o Ibovespa e drawdown cinco vezes menor. Bate o CDI com um terço da volatilidade do mercado.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112495" y="7836407"/>
            <a:ext cx="50292" cy="9418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350239" y="7808975"/>
            <a:ext cx="43708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Ponto fraco: modesto e concentrado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2020 e 2021 sozinhos somam +23%, mais que os +20% de todo o período. 3 dos 9 anos são negativos e o Deflated Sharpe reprova (N = 294).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112495" y="9015984"/>
            <a:ext cx="4608576" cy="14630"/>
          </a:xfrm>
          <a:prstGeom prst="rect">
            <a:avLst/>
          </a:prstGeom>
          <a:solidFill>
            <a:srgbClr val="2C4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12495" y="9180576"/>
            <a:ext cx="46085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4CF"/>
                </a:solidFill>
                <a:latin typeface="Arial"/>
              </a:rPr>
              <a:t>Para um mandato de risco, a comparação é a coluna realista contra o CDI. Para quem só olha retorno absoluto, a Sinapse perde do Ibovespa, e dizemos isso.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715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7A29"/>
                </a:solidFill>
                <a:latin typeface="Arial"/>
              </a:rPr>
              <a:t>IA GENERATIVA, CONCLUSÃO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42415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COMO A IA FOI USADA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55063"/>
            <a:ext cx="50292" cy="813815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1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Parceira de tese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Discutindo com a IA, trocamos o grafo manual pela regra mecânica e vimos que o termo setorial apagava o sinal.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06039"/>
            <a:ext cx="50292" cy="813815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78608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Geradora de código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~5.400 linhas de pipeline em 7 fases, em pareamento. As decisões foram nossas; a digitação, não.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7015"/>
            <a:ext cx="50292" cy="813815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Executora e auditora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Perguntar “Sharpe −1,40 com retorno positivo?” revelou a cadeia de 4 bugs de calendário.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07992"/>
            <a:ext cx="50292" cy="813815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80560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Ferramenta de planejamento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Estruturou o protocolo IS/OOS e o placebo antes de qualquer número.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468112"/>
            <a:ext cx="5340096" cy="1737360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50992"/>
            <a:ext cx="486460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120">
                <a:solidFill>
                  <a:srgbClr val="FF7A29"/>
                </a:solidFill>
                <a:latin typeface="Arial"/>
              </a:rPr>
              <a:t>O limite que encontramos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1" i="0">
                <a:solidFill>
                  <a:srgbClr val="FFFFFF"/>
                </a:solidFill>
                <a:latin typeface="Arial"/>
              </a:rPr>
              <a:t>A IA erra com confiança.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Um bug de NaN no script de verificação dela nos levou à conclusão </a:t>
            </a:r>
            <a:r>
              <a:rPr sz="1150" b="1" i="0">
                <a:solidFill>
                  <a:srgbClr val="FFB078"/>
                </a:solidFill>
                <a:latin typeface="Arial"/>
              </a:rPr>
              <a:t>oposta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sobre o modelo de choque, e ela defendeu o erro.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Só foi pego porque exigimos reprodução por teste independente.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IA sem verificação vira viés automatizado.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261872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O QUE SUSTENTAMOS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1655063"/>
            <a:ext cx="50292" cy="813815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627631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A tese se sustenta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IC crescente com o horizonte; o placebo destrói o resultado.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606039"/>
            <a:ext cx="50292" cy="813815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578608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A neutralidade é medida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Beta −0,005 contra o Ibovespa, em todos os regimes do período.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3557015"/>
            <a:ext cx="50292" cy="813815"/>
          </a:xfrm>
          <a:prstGeom prst="rect">
            <a:avLst/>
          </a:prstGeom>
          <a:solidFill>
            <a:srgbClr val="F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3529584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O retorno é modesto e honesto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+40,0% sobre o CDI em 8,6 anos (Sharpe 0,296) com custo realista; +96,4% na convenção de 5 bps.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4507992"/>
            <a:ext cx="50292" cy="813815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4480560"/>
            <a:ext cx="51023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O gargalo é breadth, não sinal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Por IR ≈ IC × √breadth, 134 posições valem 16,1 apostas: satélites do mesmo ramo se movem juntos.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5468112"/>
            <a:ext cx="5340096" cy="1737360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5650992"/>
            <a:ext cx="486460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120">
                <a:solidFill>
                  <a:srgbClr val="FF7A29"/>
                </a:solidFill>
                <a:latin typeface="Arial"/>
              </a:rPr>
              <a:t>Viabilidade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1" i="0">
                <a:solidFill>
                  <a:srgbClr val="FFFFFF"/>
                </a:solidFill>
                <a:latin typeface="Arial"/>
              </a:rPr>
              <a:t>Capacidade de ~R$ 100 MM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(a R$ 1 bi o alfa some). Trava de liquidez com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zero violações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em 93.022 posições.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O </a:t>
            </a:r>
            <a:r>
              <a:rPr sz="1150" b="1" i="0">
                <a:solidFill>
                  <a:srgbClr val="FFB078"/>
                </a:solidFill>
                <a:latin typeface="Arial"/>
              </a:rPr>
              <a:t>aluguel é 60% do custo</a:t>
            </a:r>
            <a:r>
              <a:rPr sz="1150" b="0" i="0">
                <a:solidFill>
                  <a:srgbClr val="D5E0F4"/>
                </a:solidFill>
                <a:latin typeface="Arial"/>
              </a:rPr>
              <a:t> e imune a redução de giro.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0976" y="1261872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PRÓXIMOS PASSOS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80976" y="1572767"/>
            <a:ext cx="5340096" cy="2029968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82144" y="1664207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7A29"/>
                </a:solidFill>
                <a:latin typeface="Arial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57632" y="1664207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Grafo semântico da CVM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57632" y="1975103"/>
            <a:ext cx="4462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Hoje o grafo só liga empresas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do mesmo subsetor</a:t>
            </a:r>
            <a:r>
              <a:rPr sz="1150" b="0" i="0">
                <a:solidFill>
                  <a:srgbClr val="D5E0F4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D5E0F4"/>
                </a:solidFill>
                <a:latin typeface="Arial"/>
              </a:rPr>
              <a:t>Usar IA para ler Formulários de Referência e Fatos Relevantes e extrair elos de cliente/fornecedor que </a:t>
            </a:r>
            <a:r>
              <a:rPr sz="1150" b="1" i="0">
                <a:solidFill>
                  <a:srgbClr val="FFB078"/>
                </a:solidFill>
                <a:latin typeface="Arial"/>
              </a:rPr>
              <a:t>atravessam subsetores</a:t>
            </a:r>
            <a:r>
              <a:rPr sz="1150" b="0" i="0">
                <a:solidFill>
                  <a:srgbClr val="D5E0F4"/>
                </a:solidFill>
                <a:latin typeface="Arial"/>
              </a:rPr>
              <a:t>, atacando o gargalo de breadth. A infraestrutura existe; falta orçamento de API.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0976" y="3767327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7A29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56464" y="3767327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Trava de exposição líquida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56464" y="4059935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O hedge é dimensionado por beta, não por valor. Quando os dois se descolam sobra direcional não intencional.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0976" y="488289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7A29"/>
                </a:solidFill>
                <a:latin typeface="Arial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56464" y="4882895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Reduzir o custo de aluguel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56464" y="5175503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Selecionar a ponta vendida também por taxa de BTC, não só por sinal.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80976" y="5998463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7A29"/>
                </a:solidFill>
                <a:latin typeface="Arial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56464" y="5998463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Elevar breadth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56464" y="6291071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0F4"/>
                </a:solidFill>
                <a:latin typeface="Arial"/>
              </a:rPr>
              <a:t>Penalizar pares redundantes na carteira, convertendo 134 posições em mais que 16 apostas.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7370064"/>
            <a:ext cx="17154144" cy="2011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7589520"/>
            <a:ext cx="17154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F7A29"/>
                </a:solidFill>
                <a:latin typeface="Arial"/>
              </a:rPr>
              <a:t>O REGISTRO COMPLETO: AS TRÊS VEZES EM QUE O NÚMERO PIOROU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8065008"/>
            <a:ext cx="190423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6B6B"/>
                </a:solidFill>
                <a:latin typeface="Arial"/>
              </a:rPr>
              <a:t>−63,0%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baseline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com bugs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2878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5486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5486" y="8065008"/>
            <a:ext cx="1904238" cy="50292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5486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3DD198"/>
                </a:solidFill>
                <a:latin typeface="Arial"/>
              </a:rPr>
              <a:t>+19,9%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6926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giro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controlado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1436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24044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24044" y="8065008"/>
            <a:ext cx="1904238" cy="50292"/>
          </a:xfrm>
          <a:prstGeom prst="rect">
            <a:avLst/>
          </a:prstGeom>
          <a:solidFill>
            <a:srgbClr val="F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24044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B078"/>
                </a:solidFill>
                <a:latin typeface="Arial"/>
              </a:rPr>
              <a:t>+8,7%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5483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− viés 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sobrevivência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4044" y="9436608"/>
            <a:ext cx="19042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40">
                <a:solidFill>
                  <a:srgbClr val="FF6B6B"/>
                </a:solidFill>
                <a:latin typeface="Arial"/>
              </a:rPr>
              <a:t>PIOROU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9994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02601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02601" y="8065008"/>
            <a:ext cx="1904238" cy="50292"/>
          </a:xfrm>
          <a:prstGeom prst="rect">
            <a:avLst/>
          </a:prstGeom>
          <a:solidFill>
            <a:srgbClr val="F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02601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B078"/>
                </a:solidFill>
                <a:latin typeface="Arial"/>
              </a:rPr>
              <a:t>+11,6%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4041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grafo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point-in-time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2601" y="9436608"/>
            <a:ext cx="19042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40">
                <a:solidFill>
                  <a:srgbClr val="FF6B6B"/>
                </a:solidFill>
                <a:latin typeface="Arial"/>
              </a:rPr>
              <a:t>PIOROU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59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81159" y="8065008"/>
            <a:ext cx="1904238" cy="50292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59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3DD198"/>
                </a:solidFill>
                <a:latin typeface="Arial"/>
              </a:rPr>
              <a:t>+27,9%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599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mapa setorial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corrigido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67109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59717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59717" y="8065008"/>
            <a:ext cx="1904238" cy="50292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459717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3DD198"/>
                </a:solidFill>
                <a:latin typeface="Arial"/>
              </a:rPr>
              <a:t>+36,4%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51157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horizonte 12-1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e grafo mecânico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345667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638275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638275" y="8065008"/>
            <a:ext cx="1904238" cy="50292"/>
          </a:xfrm>
          <a:prstGeom prst="rect">
            <a:avLst/>
          </a:prstGeom>
          <a:solidFill>
            <a:srgbClr val="3DD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638275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3DD198"/>
                </a:solidFill>
                <a:latin typeface="Arial"/>
              </a:rPr>
              <a:t>+47,3%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29715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calendário da B3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corrigido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524226" y="8339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C4272"/>
                </a:solidFill>
                <a:latin typeface="Arial"/>
              </a:rPr>
              <a:t>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816834" y="8065008"/>
            <a:ext cx="1904238" cy="1316736"/>
          </a:xfrm>
          <a:prstGeom prst="rect">
            <a:avLst/>
          </a:prstGeom>
          <a:solidFill>
            <a:srgbClr val="112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816834" y="8065008"/>
            <a:ext cx="1904238" cy="50292"/>
          </a:xfrm>
          <a:prstGeom prst="rect">
            <a:avLst/>
          </a:prstGeom>
          <a:solidFill>
            <a:srgbClr val="F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816834" y="8302752"/>
            <a:ext cx="190423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B078"/>
                </a:solidFill>
                <a:latin typeface="Arial"/>
              </a:rPr>
              <a:t>+19,6%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908274" y="8759952"/>
            <a:ext cx="172135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D5E0F4"/>
                </a:solidFill>
                <a:latin typeface="Arial"/>
              </a:rPr>
              <a:t>com custo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D5E0F4"/>
                </a:solidFill>
                <a:latin typeface="Arial"/>
              </a:rPr>
              <a:t>REALISTA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816834" y="9436608"/>
            <a:ext cx="19042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40">
                <a:solidFill>
                  <a:srgbClr val="FF6B6B"/>
                </a:solidFill>
                <a:latin typeface="Arial"/>
              </a:rPr>
              <a:t>PIOROU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9765792"/>
            <a:ext cx="17154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5E0F4"/>
                </a:solidFill>
                <a:latin typeface="Arial"/>
              </a:rPr>
              <a:t>Todas saíram de auditar o próprio código.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Publicar o número pior é o que torna o resto crível.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